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260" r:id="rId3"/>
    <p:sldId id="261" r:id="rId4"/>
    <p:sldId id="264" r:id="rId5"/>
    <p:sldId id="265" r:id="rId6"/>
    <p:sldId id="262" r:id="rId7"/>
    <p:sldId id="285" r:id="rId8"/>
    <p:sldId id="276" r:id="rId9"/>
    <p:sldId id="277" r:id="rId10"/>
    <p:sldId id="278" r:id="rId11"/>
    <p:sldId id="279" r:id="rId12"/>
    <p:sldId id="280" r:id="rId13"/>
    <p:sldId id="263" r:id="rId14"/>
    <p:sldId id="282" r:id="rId15"/>
    <p:sldId id="266" r:id="rId16"/>
    <p:sldId id="283" r:id="rId17"/>
    <p:sldId id="267" r:id="rId18"/>
    <p:sldId id="284" r:id="rId19"/>
    <p:sldId id="281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F38A8F-DD95-45E9-8B8B-3171AA4D2F4B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F5921F-BCC5-4081-8020-AC23496013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269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C50FA-8330-BB2E-4A59-F6F83F501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8F0721-9EEB-481F-05FE-59D75A5F1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50842D-96D8-4F9A-2C74-7F1FD753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CD024E-2154-DCE4-CAA4-1D1AB39CE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05121-9A31-D807-770E-8761DD66E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46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7003D2-6E2C-C9DD-5E3F-3BA6AFA3C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811C68-1CE6-AA42-CA7B-AEEB958F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0B885F-01F4-CC89-F33E-B68832F3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D232E-1BB4-75CD-02D1-A5E031184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1C400A-6E82-601C-CD7A-4A9A2F44B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8374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CFFE5A-34CF-11FC-C6BC-F781E794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7FEA67-9A4E-FB5F-CC67-D30843F84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E5103-BB98-7F70-9941-F2D45DB41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4E629D-26FF-96C9-C788-95AE0F5B2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DE21AC-5EF5-758E-7562-85C19FBC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897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80B176-0A9F-71C3-804D-8A9ECD6C5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201842-4F50-B661-2A05-11C48C1F2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A35639-1D93-F8C2-FB3A-678D3FE08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196A2-6E61-CBAE-7D6E-CB04F5FFF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9AD243-E3BE-F3FC-A7FB-9B4DAC2A5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CBC88C-E753-092E-A46D-2A3493538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41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5C316-4333-CF8B-C019-3C32BA18A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7BFA5F-8B02-3EE2-8DF7-FD4EDD10E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F2DCF19-4415-C10F-6305-212521EF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280A65-8441-F183-D0D5-3B8B3287B0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C1EB93-0699-3817-5E95-919976D2B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70BC49B-FFC0-0E93-7904-7EC64E783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5FAA1D7-1DB6-C73D-5550-924527BD7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7538EA4-396D-A999-C075-22A575B0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807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2CDA3-C302-99EC-09EE-AAFC16AEA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81235E-D9A5-4ED5-937B-52C48127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DFFAE1-AC42-AC77-A22E-0FEAF081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0C50C21-674D-6AB1-6F5E-AA50C6B76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77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7A3CD0F-9897-491C-50F3-84C76AF3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5861664-64FF-71D5-9735-7FE4A7D9C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3F5BE1-E645-F5EB-D162-DD00AD94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719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5B327-41C1-23CE-9387-4A55AD39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88611B-79DC-A7EF-7646-D533FACCD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FAD7C0-5D59-2EAF-E03B-7DE8FB07C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EA5C0F-79C2-9CC8-B5E5-F314CC71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38CFA8-84B6-7D65-5E53-76D983B10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1F60FF-F170-165E-8E77-76245A454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27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BA5C8-351C-7936-E946-0BE8F8C9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EC7D5C-51E8-7524-6374-AB6B46BF4A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C78D0DE-E6E5-C5EA-740D-A84F73E21E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9F7232-0879-AD74-7765-6ABD8BB5F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0113D1-EDB6-A586-D795-D5FB0D46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CA808A-5A7E-CA3C-2387-F6EB16724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063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4B761-FCB9-1BEE-8573-318062187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0C1BA4-37E6-26EC-5CF4-866B3AD07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48D8E3-BBD7-86DF-3D5F-5CB8DD1D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0C127-7605-7927-7E97-19B3E2B64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A33116-6CBA-3DB4-29D7-7C029F053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405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671340-0910-1BFC-3F22-ABBBDBAFF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893262-0B49-7A97-AEE6-6F3BC50C65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A00D9A-0E17-4BE4-ADC0-C57650B90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33A75-438D-19EB-4F27-2C78D9BD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E2B49E-7856-6D34-EBA9-E37A38EF1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751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03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E314A2-BE14-D825-9C82-C681B2CEB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94AD84-9314-5A60-561B-2E762CBDB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29CBB-6121-3233-3428-E1046B744A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47D27-5C4F-4423-9CD7-C5076E6F04D0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F49C37-90B1-1F75-7599-E7CEACE91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3ADB5-BE8E-584F-77B3-6651992D52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FED80-7B53-46A1-9289-816E1F7C9D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923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제목 1">
            <a:extLst>
              <a:ext uri="{FF2B5EF4-FFF2-40B4-BE49-F238E27FC236}">
                <a16:creationId xmlns:a16="http://schemas.microsoft.com/office/drawing/2014/main" id="{FD1CDA5B-234F-4DF7-B7C9-D77431492427}"/>
              </a:ext>
            </a:extLst>
          </p:cNvPr>
          <p:cNvSpPr txBox="1">
            <a:spLocks/>
          </p:cNvSpPr>
          <p:nvPr/>
        </p:nvSpPr>
        <p:spPr>
          <a:xfrm>
            <a:off x="967774" y="749516"/>
            <a:ext cx="1044988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0" lang="en-US" altLang="ko-KR" sz="6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  <a:t>Week 7 assignment </a:t>
            </a:r>
            <a:br>
              <a:rPr kumimoji="0" lang="en-US" altLang="ko-KR" sz="60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j-cs"/>
              </a:rPr>
            </a:br>
            <a:r>
              <a:rPr lang="en-US" altLang="ko-KR" sz="4000" b="1" i="0" dirty="0">
                <a:solidFill>
                  <a:srgbClr val="1F2328"/>
                </a:solidFill>
                <a:effectLst/>
                <a:latin typeface="+mj-ea"/>
                <a:ea typeface="맑은 고딕" panose="020B0503020000020004" pitchFamily="50" charset="-127"/>
              </a:rPr>
              <a:t>Advanced system prompts and prompt chaining</a:t>
            </a:r>
          </a:p>
        </p:txBody>
      </p:sp>
      <p:sp>
        <p:nvSpPr>
          <p:cNvPr id="49" name="부제목 2">
            <a:extLst>
              <a:ext uri="{FF2B5EF4-FFF2-40B4-BE49-F238E27FC236}">
                <a16:creationId xmlns:a16="http://schemas.microsoft.com/office/drawing/2014/main" id="{15108AEB-EF87-4422-A4D4-6C41C9F6AAD1}"/>
              </a:ext>
            </a:extLst>
          </p:cNvPr>
          <p:cNvSpPr txBox="1">
            <a:spLocks/>
          </p:cNvSpPr>
          <p:nvPr/>
        </p:nvSpPr>
        <p:spPr>
          <a:xfrm>
            <a:off x="1594338" y="3580173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Team Water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748D694-7602-422E-B299-97066BF0A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465" y="4207768"/>
            <a:ext cx="1714499" cy="17144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181E5-0BE7-5ACF-130D-91950C003709}"/>
              </a:ext>
            </a:extLst>
          </p:cNvPr>
          <p:cNvSpPr txBox="1"/>
          <p:nvPr/>
        </p:nvSpPr>
        <p:spPr>
          <a:xfrm>
            <a:off x="258618" y="2080204"/>
            <a:ext cx="7693891" cy="567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>
                <a:solidFill>
                  <a:schemeClr val="bg2">
                    <a:lumMod val="50000"/>
                  </a:schemeClr>
                </a:solidFill>
              </a:rPr>
              <a:t>LLM</a:t>
            </a:r>
            <a:r>
              <a:rPr lang="ko-KR" altLang="en-US" sz="1100" b="1" dirty="0">
                <a:solidFill>
                  <a:schemeClr val="bg2">
                    <a:lumMod val="50000"/>
                  </a:schemeClr>
                </a:solidFill>
              </a:rPr>
              <a:t>에게 문제를 해결할 때 인간처럼 중간 추론 과정</a:t>
            </a:r>
            <a:r>
              <a:rPr lang="en-US" altLang="ko-KR" sz="1100" b="1" dirty="0">
                <a:solidFill>
                  <a:schemeClr val="bg2">
                    <a:lumMod val="50000"/>
                  </a:schemeClr>
                </a:solidFill>
              </a:rPr>
              <a:t>(step-by-step reasoning)</a:t>
            </a:r>
            <a:r>
              <a:rPr lang="ko-KR" altLang="en-US" sz="1100" b="1" dirty="0">
                <a:solidFill>
                  <a:schemeClr val="bg2">
                    <a:lumMod val="50000"/>
                  </a:schemeClr>
                </a:solidFill>
              </a:rPr>
              <a:t>을 출력하도록 유도하는 프롬프트 기법</a:t>
            </a:r>
            <a:r>
              <a:rPr lang="en-US" altLang="ko-KR" sz="1100" b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100" b="1" dirty="0">
                <a:solidFill>
                  <a:schemeClr val="bg2">
                    <a:lumMod val="50000"/>
                  </a:schemeClr>
                </a:solidFill>
              </a:rPr>
              <a:t>문제 → 사고 과정 → 결론  의 형태로 출력하게 만들어 논리적 안정성</a:t>
            </a:r>
            <a:r>
              <a:rPr lang="en-US" altLang="ko-KR" sz="1100" b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100" b="1" dirty="0">
                <a:solidFill>
                  <a:schemeClr val="bg2">
                    <a:lumMod val="50000"/>
                  </a:schemeClr>
                </a:solidFill>
              </a:rPr>
              <a:t>정확성</a:t>
            </a:r>
            <a:r>
              <a:rPr lang="en-US" altLang="ko-KR" sz="1100" b="1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100" b="1" dirty="0">
                <a:solidFill>
                  <a:schemeClr val="bg2">
                    <a:lumMod val="50000"/>
                  </a:schemeClr>
                </a:solidFill>
              </a:rPr>
              <a:t>설명력을 높임</a:t>
            </a:r>
            <a:endParaRPr lang="en-US" altLang="ko-KR" sz="11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18A8D5-D825-220E-8F4A-7CBB190EB7EE}"/>
              </a:ext>
            </a:extLst>
          </p:cNvPr>
          <p:cNvSpPr txBox="1"/>
          <p:nvPr/>
        </p:nvSpPr>
        <p:spPr>
          <a:xfrm>
            <a:off x="73891" y="0"/>
            <a:ext cx="6123708" cy="574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/>
              <a:t>Chain-of-Thought Prompting(</a:t>
            </a:r>
            <a:r>
              <a:rPr lang="en-US" altLang="ko-KR" sz="2400" b="1" dirty="0" err="1"/>
              <a:t>CoT</a:t>
            </a:r>
            <a:r>
              <a:rPr lang="en-US" altLang="ko-KR" sz="2400" b="1" dirty="0"/>
              <a:t>)  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11752-CF56-55A0-8C16-897E1304447C}"/>
              </a:ext>
            </a:extLst>
          </p:cNvPr>
          <p:cNvSpPr txBox="1"/>
          <p:nvPr/>
        </p:nvSpPr>
        <p:spPr>
          <a:xfrm>
            <a:off x="-129309" y="2783185"/>
            <a:ext cx="6109854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 err="1"/>
              <a:t>Zero-shot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CoT</a:t>
            </a:r>
            <a:endParaRPr lang="ko-KR" altLang="en-US" sz="1600" b="1" dirty="0"/>
          </a:p>
          <a:p>
            <a:pPr algn="ctr"/>
            <a:endParaRPr lang="ko-KR" altLang="en-US" sz="1600" dirty="0"/>
          </a:p>
          <a:p>
            <a:pPr algn="ctr"/>
            <a:r>
              <a:rPr lang="ko-KR" altLang="en-US" sz="1600" dirty="0" err="1"/>
              <a:t>Few-shot</a:t>
            </a:r>
            <a:r>
              <a:rPr lang="ko-KR" altLang="en-US" sz="1600" dirty="0"/>
              <a:t> </a:t>
            </a:r>
            <a:r>
              <a:rPr lang="ko-KR" altLang="en-US" sz="1600" dirty="0" err="1"/>
              <a:t>CoT</a:t>
            </a:r>
            <a:endParaRPr lang="ko-KR" altLang="en-US" sz="1600" dirty="0"/>
          </a:p>
          <a:p>
            <a:pPr algn="ctr"/>
            <a:endParaRPr lang="ko-KR" altLang="en-US" sz="1600" dirty="0"/>
          </a:p>
          <a:p>
            <a:pPr algn="ctr"/>
            <a:r>
              <a:rPr lang="ko-KR" altLang="en-US" sz="1600" b="1" dirty="0" err="1"/>
              <a:t>Least-to-Most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prompting</a:t>
            </a:r>
            <a:endParaRPr lang="ko-KR" altLang="en-US" sz="1600" b="1" dirty="0"/>
          </a:p>
          <a:p>
            <a:pPr algn="ctr"/>
            <a:endParaRPr lang="ko-KR" altLang="en-US" sz="1600" dirty="0"/>
          </a:p>
          <a:p>
            <a:pPr algn="ctr"/>
            <a:r>
              <a:rPr lang="ko-KR" altLang="en-US" sz="1600" dirty="0" err="1"/>
              <a:t>Self-consistency</a:t>
            </a:r>
            <a:r>
              <a:rPr lang="ko-KR" altLang="en-US" sz="1600" dirty="0"/>
              <a:t> </a:t>
            </a:r>
            <a:r>
              <a:rPr lang="ko-KR" altLang="en-US" sz="1600" dirty="0" err="1"/>
              <a:t>CoT</a:t>
            </a:r>
            <a:endParaRPr lang="ko-KR" altLang="en-US" sz="1600" dirty="0"/>
          </a:p>
          <a:p>
            <a:pPr algn="ctr"/>
            <a:endParaRPr lang="ko-KR" altLang="en-US" sz="1600" dirty="0"/>
          </a:p>
          <a:p>
            <a:pPr algn="ctr"/>
            <a:r>
              <a:rPr lang="ko-KR" altLang="en-US" sz="1600" dirty="0" err="1"/>
              <a:t>Program</a:t>
            </a:r>
            <a:r>
              <a:rPr lang="ko-KR" altLang="en-US" sz="1600" dirty="0"/>
              <a:t>-of-</a:t>
            </a:r>
            <a:r>
              <a:rPr lang="ko-KR" altLang="en-US" sz="1600" dirty="0" err="1"/>
              <a:t>Thoughts</a:t>
            </a:r>
            <a:endParaRPr lang="ko-KR" altLang="en-US" sz="1600" dirty="0"/>
          </a:p>
          <a:p>
            <a:pPr algn="ctr"/>
            <a:endParaRPr lang="ko-KR" altLang="en-US" sz="1600" dirty="0"/>
          </a:p>
          <a:p>
            <a:pPr algn="ctr"/>
            <a:r>
              <a:rPr lang="ko-KR" altLang="en-US" sz="1600" dirty="0"/>
              <a:t>Tree-of-</a:t>
            </a:r>
            <a:r>
              <a:rPr lang="ko-KR" altLang="en-US" sz="1600" dirty="0" err="1"/>
              <a:t>Thoughts</a:t>
            </a:r>
            <a:endParaRPr lang="ko-KR" altLang="en-US" sz="1600" dirty="0"/>
          </a:p>
          <a:p>
            <a:pPr algn="ctr"/>
            <a:endParaRPr lang="ko-KR" altLang="en-US" sz="1600" dirty="0"/>
          </a:p>
          <a:p>
            <a:pPr algn="ctr"/>
            <a:r>
              <a:rPr lang="ko-KR" altLang="en-US" sz="1600" b="1" dirty="0" err="1"/>
              <a:t>Multimodal</a:t>
            </a:r>
            <a:r>
              <a:rPr lang="ko-KR" altLang="en-US" sz="1600" b="1" dirty="0"/>
              <a:t> </a:t>
            </a:r>
            <a:r>
              <a:rPr lang="ko-KR" altLang="en-US" sz="1600" b="1" dirty="0" err="1"/>
              <a:t>CoT</a:t>
            </a:r>
            <a:endParaRPr lang="ko-KR" altLang="en-US" sz="1600" b="1" dirty="0"/>
          </a:p>
          <a:p>
            <a:pPr algn="ctr"/>
            <a:endParaRPr lang="ko-KR" altLang="en-US" sz="1600" dirty="0"/>
          </a:p>
          <a:p>
            <a:pPr algn="ctr"/>
            <a:r>
              <a:rPr lang="ko-KR" altLang="en-US" sz="1600" dirty="0" err="1"/>
              <a:t>Graph</a:t>
            </a:r>
            <a:r>
              <a:rPr lang="ko-KR" altLang="en-US" sz="1600" dirty="0"/>
              <a:t>-of-</a:t>
            </a:r>
            <a:r>
              <a:rPr lang="ko-KR" altLang="en-US" sz="1600" dirty="0" err="1"/>
              <a:t>Thoughts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F4E381-C99C-F342-2BCD-2E62E8010F4B}"/>
              </a:ext>
            </a:extLst>
          </p:cNvPr>
          <p:cNvSpPr txBox="1"/>
          <p:nvPr/>
        </p:nvSpPr>
        <p:spPr>
          <a:xfrm>
            <a:off x="4869449" y="4392711"/>
            <a:ext cx="893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. . . </a:t>
            </a:r>
            <a:r>
              <a:rPr lang="en-US" altLang="ko-KR" dirty="0" err="1"/>
              <a:t>etc</a:t>
            </a:r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81AEB6F-2B95-7CB8-6FD3-C5CF091AAAF9}"/>
              </a:ext>
            </a:extLst>
          </p:cNvPr>
          <p:cNvSpPr/>
          <p:nvPr/>
        </p:nvSpPr>
        <p:spPr>
          <a:xfrm>
            <a:off x="1080655" y="2760389"/>
            <a:ext cx="3786908" cy="4003307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7E77CC-A8F4-364B-6F46-E73EC3A3B11F}"/>
              </a:ext>
            </a:extLst>
          </p:cNvPr>
          <p:cNvSpPr txBox="1"/>
          <p:nvPr/>
        </p:nvSpPr>
        <p:spPr>
          <a:xfrm>
            <a:off x="7195126" y="3601579"/>
            <a:ext cx="391621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 err="1"/>
              <a:t>Zero-shot</a:t>
            </a:r>
            <a:r>
              <a:rPr lang="ko-KR" altLang="en-US" b="1" dirty="0"/>
              <a:t> </a:t>
            </a:r>
            <a:r>
              <a:rPr lang="ko-KR" altLang="en-US" b="1" dirty="0" err="1"/>
              <a:t>CoT</a:t>
            </a:r>
            <a:endParaRPr lang="en-US" altLang="ko-KR" b="1" dirty="0"/>
          </a:p>
          <a:p>
            <a:pPr algn="ctr"/>
            <a:endParaRPr lang="en-US" altLang="ko-KR" b="1" dirty="0"/>
          </a:p>
          <a:p>
            <a:pPr algn="ctr"/>
            <a:r>
              <a:rPr lang="ko-KR" altLang="en-US" b="1" dirty="0" err="1"/>
              <a:t>Multimodal</a:t>
            </a:r>
            <a:r>
              <a:rPr lang="ko-KR" altLang="en-US" b="1" dirty="0"/>
              <a:t> </a:t>
            </a:r>
            <a:r>
              <a:rPr lang="ko-KR" altLang="en-US" b="1" dirty="0" err="1"/>
              <a:t>CoT</a:t>
            </a:r>
            <a:endParaRPr lang="en-US" altLang="ko-KR" b="1" dirty="0"/>
          </a:p>
          <a:p>
            <a:pPr algn="ctr"/>
            <a:endParaRPr lang="ko-KR" altLang="en-US" b="1" dirty="0"/>
          </a:p>
          <a:p>
            <a:pPr algn="ctr"/>
            <a:r>
              <a:rPr lang="ko-KR" altLang="en-US" b="1" dirty="0" err="1"/>
              <a:t>Least-to-Most</a:t>
            </a:r>
            <a:r>
              <a:rPr lang="ko-KR" altLang="en-US" b="1" dirty="0"/>
              <a:t> </a:t>
            </a:r>
            <a:r>
              <a:rPr lang="ko-KR" altLang="en-US" b="1" dirty="0" err="1"/>
              <a:t>prompting</a:t>
            </a:r>
            <a:endParaRPr lang="ko-KR" altLang="en-US" b="1" dirty="0"/>
          </a:p>
          <a:p>
            <a:pPr algn="ctr"/>
            <a:endParaRPr lang="ko-KR" altLang="en-US" b="1" dirty="0"/>
          </a:p>
          <a:p>
            <a:pPr algn="ctr"/>
            <a:r>
              <a:rPr lang="ko-KR" altLang="en-US" b="1" dirty="0"/>
              <a:t>가 대표적으로 사용됨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D55EA-EC93-C8D4-AF04-9A6EF6D7D1AD}"/>
              </a:ext>
            </a:extLst>
          </p:cNvPr>
          <p:cNvSpPr txBox="1"/>
          <p:nvPr/>
        </p:nvSpPr>
        <p:spPr>
          <a:xfrm>
            <a:off x="258618" y="611564"/>
            <a:ext cx="12118109" cy="1337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/>
              <a:t>A prompting technique that encourages the LLM to generate intermediate reasoning steps—similar to human problem-solving—when producing an answer.</a:t>
            </a:r>
            <a:br>
              <a:rPr lang="en-US" altLang="ko-KR" sz="1600" dirty="0"/>
            </a:br>
            <a:r>
              <a:rPr lang="en-US" altLang="ko-KR" sz="1600" dirty="0"/>
              <a:t>It guides the model to respond in the structure of </a:t>
            </a:r>
            <a:r>
              <a:rPr lang="en-US" altLang="ko-KR" sz="1600" b="1" dirty="0"/>
              <a:t>problem → reasoning process → conclusion</a:t>
            </a:r>
            <a:r>
              <a:rPr lang="en-US" altLang="ko-KR" sz="1600" dirty="0"/>
              <a:t>, thereby improving logical stability, accuracy, and explanatory clarity.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46979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219F6-0B21-5D67-E2FD-266FC19A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6B242-656A-9B7D-4C32-8D0486D33F62}"/>
              </a:ext>
            </a:extLst>
          </p:cNvPr>
          <p:cNvSpPr txBox="1"/>
          <p:nvPr/>
        </p:nvSpPr>
        <p:spPr>
          <a:xfrm>
            <a:off x="979815" y="4165148"/>
            <a:ext cx="6096000" cy="783356"/>
          </a:xfrm>
          <a:prstGeom prst="rect">
            <a:avLst/>
          </a:prstGeom>
          <a:noFill/>
          <a:ln w="2857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“</a:t>
            </a:r>
            <a:r>
              <a:rPr lang="en-US" altLang="ko-KR" sz="1600" dirty="0"/>
              <a:t>Let’s think step by step”</a:t>
            </a:r>
            <a:br>
              <a:rPr lang="en-US" altLang="ko-KR" sz="1600" dirty="0"/>
            </a:br>
            <a:r>
              <a:rPr lang="en-US" altLang="ko-KR" sz="1600" dirty="0"/>
              <a:t>→ The model itself generates the intermediate reasoning steps.</a:t>
            </a:r>
            <a:endParaRPr lang="ko-KR" alt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6A55C-6172-4685-CA0D-5BF40102D7B6}"/>
              </a:ext>
            </a:extLst>
          </p:cNvPr>
          <p:cNvSpPr txBox="1"/>
          <p:nvPr/>
        </p:nvSpPr>
        <p:spPr>
          <a:xfrm>
            <a:off x="273376" y="350478"/>
            <a:ext cx="16709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/>
              <a:t>Zero-shot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C34DA-05B2-63B0-F162-053A20901B6C}"/>
              </a:ext>
            </a:extLst>
          </p:cNvPr>
          <p:cNvSpPr txBox="1"/>
          <p:nvPr/>
        </p:nvSpPr>
        <p:spPr>
          <a:xfrm>
            <a:off x="273377" y="825236"/>
            <a:ext cx="10607060" cy="783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/>
              <a:t>A technique that induces the model to generate its own reasoning steps simply by adding a phrase like “Let’s think step by step,” without providing explicit examples.</a:t>
            </a:r>
            <a:endParaRPr lang="ko-KR" altLang="en-US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FB711B-15A4-E695-D898-F1F97F769EAD}"/>
              </a:ext>
            </a:extLst>
          </p:cNvPr>
          <p:cNvSpPr txBox="1"/>
          <p:nvPr/>
        </p:nvSpPr>
        <p:spPr>
          <a:xfrm>
            <a:off x="405506" y="2065427"/>
            <a:ext cx="7121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It is the simplest form of </a:t>
            </a:r>
            <a:r>
              <a:rPr lang="en-US" altLang="ko-KR" b="1" dirty="0" err="1"/>
              <a:t>CoT</a:t>
            </a:r>
            <a:r>
              <a:rPr lang="en-US" altLang="ko-KR" b="1" dirty="0"/>
              <a:t> prompting.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It requires no examples (no few-shot).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It can activate </a:t>
            </a:r>
            <a:r>
              <a:rPr lang="en-US" altLang="ko-KR" b="1" dirty="0" err="1"/>
              <a:t>CoT</a:t>
            </a:r>
            <a:r>
              <a:rPr lang="en-US" altLang="ko-KR" b="1" dirty="0"/>
              <a:t> reliably while remaining fast and lightweight.</a:t>
            </a:r>
            <a:endParaRPr lang="en-US" altLang="ko-KR" dirty="0"/>
          </a:p>
        </p:txBody>
      </p: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0986CA1F-D3BE-E47E-D6A6-62E7E9F1BAF6}"/>
              </a:ext>
            </a:extLst>
          </p:cNvPr>
          <p:cNvSpPr/>
          <p:nvPr/>
        </p:nvSpPr>
        <p:spPr>
          <a:xfrm>
            <a:off x="312198" y="3692552"/>
            <a:ext cx="397163" cy="246379"/>
          </a:xfrm>
          <a:prstGeom prst="wedgeRoundRectCallout">
            <a:avLst>
              <a:gd name="adj1" fmla="val -20833"/>
              <a:gd name="adj2" fmla="val 84797"/>
              <a:gd name="adj3" fmla="val 16667"/>
            </a:avLst>
          </a:prstGeom>
          <a:ln w="38100">
            <a:solidFill>
              <a:srgbClr val="4E95D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4871401-BCB4-4381-3088-DF706C4F1E9C}"/>
              </a:ext>
            </a:extLst>
          </p:cNvPr>
          <p:cNvSpPr/>
          <p:nvPr/>
        </p:nvSpPr>
        <p:spPr>
          <a:xfrm>
            <a:off x="7659585" y="2008613"/>
            <a:ext cx="3786908" cy="4590019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4EAEDB-6211-D4F8-37AC-7FDD8AF42395}"/>
              </a:ext>
            </a:extLst>
          </p:cNvPr>
          <p:cNvSpPr txBox="1"/>
          <p:nvPr/>
        </p:nvSpPr>
        <p:spPr>
          <a:xfrm>
            <a:off x="8578315" y="2208038"/>
            <a:ext cx="1935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[Problem input]</a:t>
            </a:r>
            <a:endParaRPr lang="ko-KR" altLang="en-US" b="1" dirty="0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3A5C1FB9-2C07-8969-FBAB-571470F5347E}"/>
              </a:ext>
            </a:extLst>
          </p:cNvPr>
          <p:cNvSpPr/>
          <p:nvPr/>
        </p:nvSpPr>
        <p:spPr>
          <a:xfrm rot="5400000">
            <a:off x="9319986" y="2682445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C27356-D035-1BFC-57BF-4C9FEBB68D25}"/>
              </a:ext>
            </a:extLst>
          </p:cNvPr>
          <p:cNvSpPr txBox="1"/>
          <p:nvPr/>
        </p:nvSpPr>
        <p:spPr>
          <a:xfrm>
            <a:off x="8075229" y="2994951"/>
            <a:ext cx="2955617" cy="8697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[zero-shot </a:t>
            </a:r>
            <a:r>
              <a:rPr lang="en-US" altLang="ko-KR" b="1" dirty="0" err="1"/>
              <a:t>CoT</a:t>
            </a:r>
            <a:r>
              <a:rPr lang="en-US" altLang="ko-KR" b="1" dirty="0"/>
              <a:t>]</a:t>
            </a:r>
          </a:p>
          <a:p>
            <a:pPr algn="ctr">
              <a:lnSpc>
                <a:spcPct val="150000"/>
              </a:lnSpc>
            </a:pPr>
            <a:r>
              <a:rPr lang="en-US" altLang="ko-KR" b="1" dirty="0"/>
              <a:t>“Let’s think step by step”</a:t>
            </a:r>
            <a:endParaRPr lang="ko-KR" altLang="en-US" b="1" dirty="0"/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670C55DF-CD02-F406-DAB6-F3A0A20EA52C}"/>
              </a:ext>
            </a:extLst>
          </p:cNvPr>
          <p:cNvSpPr/>
          <p:nvPr/>
        </p:nvSpPr>
        <p:spPr>
          <a:xfrm rot="5400000">
            <a:off x="9319986" y="3948974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81A9E0-4AEA-7A6E-81D2-4499F440C54D}"/>
              </a:ext>
            </a:extLst>
          </p:cNvPr>
          <p:cNvSpPr txBox="1"/>
          <p:nvPr/>
        </p:nvSpPr>
        <p:spPr>
          <a:xfrm>
            <a:off x="8098856" y="4377228"/>
            <a:ext cx="2930225" cy="697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/>
              <a:t>[Model generates </a:t>
            </a:r>
          </a:p>
          <a:p>
            <a:pPr algn="ctr">
              <a:lnSpc>
                <a:spcPct val="150000"/>
              </a:lnSpc>
            </a:pPr>
            <a:r>
              <a:rPr lang="en-US" altLang="ko-KR" sz="1400" b="1" dirty="0"/>
              <a:t>its own intermediate reasoning]</a:t>
            </a:r>
            <a:endParaRPr lang="ko-KR" altLang="en-US" sz="1400" b="1" dirty="0"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772B62E9-277D-4311-92E5-5A11A2FA4572}"/>
              </a:ext>
            </a:extLst>
          </p:cNvPr>
          <p:cNvSpPr/>
          <p:nvPr/>
        </p:nvSpPr>
        <p:spPr>
          <a:xfrm rot="5400000">
            <a:off x="9319986" y="5284791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511A44-46FC-FB17-C512-27DD12930D82}"/>
              </a:ext>
            </a:extLst>
          </p:cNvPr>
          <p:cNvSpPr txBox="1"/>
          <p:nvPr/>
        </p:nvSpPr>
        <p:spPr>
          <a:xfrm>
            <a:off x="7957151" y="5741058"/>
            <a:ext cx="3213637" cy="4542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[Produces the final answer]</a:t>
            </a:r>
            <a:endParaRPr lang="ko-KR" altLang="en-US" b="1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0EE6CC5-42A1-A9E4-2940-F790E8F70907}"/>
              </a:ext>
            </a:extLst>
          </p:cNvPr>
          <p:cNvSpPr/>
          <p:nvPr/>
        </p:nvSpPr>
        <p:spPr>
          <a:xfrm>
            <a:off x="901513" y="3534757"/>
            <a:ext cx="6136817" cy="1684943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65F666-BCB8-7402-3F69-AD639AADD5FA}"/>
              </a:ext>
            </a:extLst>
          </p:cNvPr>
          <p:cNvSpPr txBox="1"/>
          <p:nvPr/>
        </p:nvSpPr>
        <p:spPr>
          <a:xfrm>
            <a:off x="979815" y="3631076"/>
            <a:ext cx="6138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Example</a:t>
            </a:r>
            <a:r>
              <a:rPr lang="ko-KR" altLang="en-US" b="1" dirty="0"/>
              <a:t> </a:t>
            </a:r>
            <a:r>
              <a:rPr lang="en-US" altLang="ko-KR" b="1" dirty="0"/>
              <a:t>Prompt: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8C47AD-B125-0D06-BFCD-6E402349A5DC}"/>
              </a:ext>
            </a:extLst>
          </p:cNvPr>
          <p:cNvSpPr txBox="1"/>
          <p:nvPr/>
        </p:nvSpPr>
        <p:spPr>
          <a:xfrm>
            <a:off x="312198" y="1645237"/>
            <a:ext cx="81641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예시를 제시하지 않고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, “Let’s think step by step”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같은 문구만으로 모델 스스로 추론 과정을 생성하게 만드는 기법 </a:t>
            </a:r>
          </a:p>
        </p:txBody>
      </p:sp>
    </p:spTree>
    <p:extLst>
      <p:ext uri="{BB962C8B-B14F-4D97-AF65-F5344CB8AC3E}">
        <p14:creationId xmlns:p14="http://schemas.microsoft.com/office/powerpoint/2010/main" val="309166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053F8A-274D-0299-A70F-F0BE34CF07DA}"/>
              </a:ext>
            </a:extLst>
          </p:cNvPr>
          <p:cNvSpPr txBox="1"/>
          <p:nvPr/>
        </p:nvSpPr>
        <p:spPr>
          <a:xfrm>
            <a:off x="273376" y="350478"/>
            <a:ext cx="4527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/>
              <a:t>Least-to-Most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0DF6B1-D04F-F68B-8898-67F584D1F299}"/>
              </a:ext>
            </a:extLst>
          </p:cNvPr>
          <p:cNvSpPr txBox="1"/>
          <p:nvPr/>
        </p:nvSpPr>
        <p:spPr>
          <a:xfrm>
            <a:off x="273375" y="816865"/>
            <a:ext cx="11813849" cy="6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b="1" dirty="0"/>
              <a:t>Breaking a difficult problem into smaller sub-problems (decomposition) → solving each sub-problem sequentially → deriving the final conclusion</a:t>
            </a:r>
            <a:endParaRPr lang="ko-KR" altLang="en-US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EF5B5-53E8-3574-2D15-1D2C000E2DDC}"/>
              </a:ext>
            </a:extLst>
          </p:cNvPr>
          <p:cNvSpPr txBox="1"/>
          <p:nvPr/>
        </p:nvSpPr>
        <p:spPr>
          <a:xfrm>
            <a:off x="347018" y="1877007"/>
            <a:ext cx="6691312" cy="13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This is the most logically stable form among Chain-of-Thought methods.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It strengthens the model’s ability to decompose complex problems.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Very effective for tasks involving long-term planning, logical reasoning, multi-step mathematics, or code design.</a:t>
            </a:r>
            <a:endParaRPr lang="ko-KR" altLang="en-US" sz="1400" dirty="0"/>
          </a:p>
        </p:txBody>
      </p: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42E785E4-3DA8-3417-1501-FA9042A79093}"/>
              </a:ext>
            </a:extLst>
          </p:cNvPr>
          <p:cNvSpPr/>
          <p:nvPr/>
        </p:nvSpPr>
        <p:spPr>
          <a:xfrm>
            <a:off x="312198" y="3692552"/>
            <a:ext cx="397163" cy="246379"/>
          </a:xfrm>
          <a:prstGeom prst="wedgeRoundRectCallout">
            <a:avLst>
              <a:gd name="adj1" fmla="val -20833"/>
              <a:gd name="adj2" fmla="val 84797"/>
              <a:gd name="adj3" fmla="val 16667"/>
            </a:avLst>
          </a:prstGeom>
          <a:ln w="38100">
            <a:solidFill>
              <a:srgbClr val="4E95D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8575CDB-CCB5-380B-9417-766F83577745}"/>
              </a:ext>
            </a:extLst>
          </p:cNvPr>
          <p:cNvSpPr/>
          <p:nvPr/>
        </p:nvSpPr>
        <p:spPr>
          <a:xfrm>
            <a:off x="901513" y="3534757"/>
            <a:ext cx="6136817" cy="1684943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659D63-34C2-D038-4CBC-DCDE179689DA}"/>
              </a:ext>
            </a:extLst>
          </p:cNvPr>
          <p:cNvSpPr txBox="1"/>
          <p:nvPr/>
        </p:nvSpPr>
        <p:spPr>
          <a:xfrm>
            <a:off x="979815" y="3631076"/>
            <a:ext cx="6138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Example</a:t>
            </a:r>
            <a:r>
              <a:rPr lang="ko-KR" altLang="en-US" b="1" dirty="0"/>
              <a:t> </a:t>
            </a:r>
            <a:r>
              <a:rPr lang="en-US" altLang="ko-KR" b="1" dirty="0"/>
              <a:t>Prompt:</a:t>
            </a:r>
            <a:endParaRPr lang="ko-KR" altLang="en-US" b="1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0C5DFA6-0310-2E5B-ABA1-107F88547A15}"/>
              </a:ext>
            </a:extLst>
          </p:cNvPr>
          <p:cNvSpPr/>
          <p:nvPr/>
        </p:nvSpPr>
        <p:spPr>
          <a:xfrm>
            <a:off x="7386150" y="1602216"/>
            <a:ext cx="4344031" cy="4590019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149D0-2633-8D10-80DA-8FBE1BE4411D}"/>
              </a:ext>
            </a:extLst>
          </p:cNvPr>
          <p:cNvSpPr txBox="1"/>
          <p:nvPr/>
        </p:nvSpPr>
        <p:spPr>
          <a:xfrm>
            <a:off x="8146527" y="1742449"/>
            <a:ext cx="28520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[Given a complex problem]</a:t>
            </a:r>
            <a:endParaRPr lang="ko-KR" altLang="en-US" sz="1600" b="1" dirty="0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30E1BA55-2742-0181-9156-6C15034022E0}"/>
              </a:ext>
            </a:extLst>
          </p:cNvPr>
          <p:cNvSpPr/>
          <p:nvPr/>
        </p:nvSpPr>
        <p:spPr>
          <a:xfrm rot="5400000">
            <a:off x="9319986" y="2205733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EF2F4D-A2E6-40B9-DF65-A7C7B2EEB7A7}"/>
              </a:ext>
            </a:extLst>
          </p:cNvPr>
          <p:cNvSpPr txBox="1"/>
          <p:nvPr/>
        </p:nvSpPr>
        <p:spPr>
          <a:xfrm>
            <a:off x="7508445" y="2625707"/>
            <a:ext cx="4060342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[Request for decomposition]</a:t>
            </a:r>
            <a:br>
              <a:rPr lang="en-US" altLang="ko-KR" sz="1200" b="1" dirty="0"/>
            </a:br>
            <a:r>
              <a:rPr lang="en-US" altLang="ko-KR" sz="1200" b="1" dirty="0"/>
              <a:t>“Break the problem down and solve it step by step.”</a:t>
            </a:r>
            <a:endParaRPr lang="ko-KR" altLang="en-US" sz="1200" b="1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AAFA556F-2BF0-2806-A690-617952D072F7}"/>
              </a:ext>
            </a:extLst>
          </p:cNvPr>
          <p:cNvSpPr/>
          <p:nvPr/>
        </p:nvSpPr>
        <p:spPr>
          <a:xfrm rot="5400000">
            <a:off x="8203797" y="3507629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7F8420-AE8B-08CE-8015-12AB4F413801}"/>
              </a:ext>
            </a:extLst>
          </p:cNvPr>
          <p:cNvSpPr txBox="1"/>
          <p:nvPr/>
        </p:nvSpPr>
        <p:spPr>
          <a:xfrm>
            <a:off x="7469688" y="3982913"/>
            <a:ext cx="2247410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/>
              <a:t>[Solve each sub-task(1)]</a:t>
            </a:r>
            <a:endParaRPr lang="ko-KR" altLang="en-US" sz="1400" b="1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8D9941DE-C696-2028-49CB-D164F138FA35}"/>
              </a:ext>
            </a:extLst>
          </p:cNvPr>
          <p:cNvSpPr/>
          <p:nvPr/>
        </p:nvSpPr>
        <p:spPr>
          <a:xfrm rot="5400000">
            <a:off x="9330915" y="4468319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063D86-86B3-FCFA-5E46-68DE5112F728}"/>
              </a:ext>
            </a:extLst>
          </p:cNvPr>
          <p:cNvSpPr txBox="1"/>
          <p:nvPr/>
        </p:nvSpPr>
        <p:spPr>
          <a:xfrm>
            <a:off x="7487502" y="4795581"/>
            <a:ext cx="4152932" cy="373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400" b="1" dirty="0"/>
              <a:t>[Combine partial results into the final answer]</a:t>
            </a:r>
            <a:endParaRPr lang="ko-KR" altLang="en-US" sz="1400" b="1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125ABDF4-F742-F319-17BC-44CBA053AA6B}"/>
              </a:ext>
            </a:extLst>
          </p:cNvPr>
          <p:cNvSpPr/>
          <p:nvPr/>
        </p:nvSpPr>
        <p:spPr>
          <a:xfrm rot="5400000">
            <a:off x="10280856" y="3485572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8E3382-D762-381E-5032-42F9AAAED0F2}"/>
              </a:ext>
            </a:extLst>
          </p:cNvPr>
          <p:cNvSpPr txBox="1"/>
          <p:nvPr/>
        </p:nvSpPr>
        <p:spPr>
          <a:xfrm>
            <a:off x="9695699" y="4028916"/>
            <a:ext cx="194950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[Solve each sub-task(2)]</a:t>
            </a:r>
            <a:endParaRPr lang="ko-KR" altLang="en-US" sz="1200" b="1" dirty="0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15C323EA-5EC0-E838-E375-135E590CACC8}"/>
              </a:ext>
            </a:extLst>
          </p:cNvPr>
          <p:cNvSpPr/>
          <p:nvPr/>
        </p:nvSpPr>
        <p:spPr>
          <a:xfrm rot="5400000">
            <a:off x="9330915" y="5381222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4091ED-F3FE-D91C-D576-F2AEB6EF535E}"/>
              </a:ext>
            </a:extLst>
          </p:cNvPr>
          <p:cNvSpPr txBox="1"/>
          <p:nvPr/>
        </p:nvSpPr>
        <p:spPr>
          <a:xfrm>
            <a:off x="8129343" y="5747044"/>
            <a:ext cx="2869247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[Produces the final answer]</a:t>
            </a:r>
            <a:endParaRPr lang="ko-KR" altLang="en-US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41B6F-72B8-6542-EAB8-2A1C2E5DA0A0}"/>
              </a:ext>
            </a:extLst>
          </p:cNvPr>
          <p:cNvSpPr txBox="1"/>
          <p:nvPr/>
        </p:nvSpPr>
        <p:spPr>
          <a:xfrm>
            <a:off x="312198" y="1536592"/>
            <a:ext cx="790632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</a:rPr>
              <a:t>어려운 문제를 작은 하위 문제로 분해</a:t>
            </a:r>
            <a:r>
              <a:rPr lang="en-US" altLang="ko-KR" sz="1100" dirty="0">
                <a:solidFill>
                  <a:schemeClr val="bg2">
                    <a:lumMod val="50000"/>
                  </a:schemeClr>
                </a:solidFill>
              </a:rPr>
              <a:t>(decomposition) →</a:t>
            </a:r>
            <a:r>
              <a:rPr lang="ko-KR" altLang="en-US" sz="1100" dirty="0">
                <a:solidFill>
                  <a:schemeClr val="bg2">
                    <a:lumMod val="50000"/>
                  </a:schemeClr>
                </a:solidFill>
              </a:rPr>
              <a:t>하위 문제를 순차적으로 해결 → 최종 결론 도출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8E820058-D5DD-F0AA-5787-836F629D5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128" y="4034009"/>
            <a:ext cx="5391091" cy="1019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Break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sub-problems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sub-problem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3: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421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B0E72-E19F-C937-7023-1022A052514D}"/>
              </a:ext>
            </a:extLst>
          </p:cNvPr>
          <p:cNvSpPr txBox="1"/>
          <p:nvPr/>
        </p:nvSpPr>
        <p:spPr>
          <a:xfrm>
            <a:off x="995785" y="4556099"/>
            <a:ext cx="6250667" cy="1337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/>
              <a:t>Give the model a map and some text, and ask:</a:t>
            </a:r>
            <a:br>
              <a:rPr lang="en-US" altLang="ko-KR" sz="1600" dirty="0"/>
            </a:br>
            <a:r>
              <a:rPr lang="en-US" altLang="ko-KR" sz="1600" b="1" dirty="0"/>
              <a:t>“Explain the route selection process step by step.”</a:t>
            </a:r>
            <a:endParaRPr lang="ko-KR" altLang="en-US" sz="1600" dirty="0"/>
          </a:p>
          <a:p>
            <a:pPr>
              <a:lnSpc>
                <a:spcPct val="130000"/>
              </a:lnSpc>
            </a:pPr>
            <a:r>
              <a:rPr lang="en-US" altLang="ko-KR" sz="1600" dirty="0"/>
              <a:t>Show a graph trend and ask:</a:t>
            </a:r>
            <a:br>
              <a:rPr lang="en-US" altLang="ko-KR" sz="1600" dirty="0"/>
            </a:br>
            <a:r>
              <a:rPr lang="en-US" altLang="ko-KR" sz="1600" b="1" dirty="0"/>
              <a:t>“Explain, step by step, why this change occurs.”</a:t>
            </a:r>
            <a:endParaRPr lang="ko-KR" alt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72F4D-909A-9777-B4A3-17E96CB42243}"/>
              </a:ext>
            </a:extLst>
          </p:cNvPr>
          <p:cNvSpPr txBox="1"/>
          <p:nvPr/>
        </p:nvSpPr>
        <p:spPr>
          <a:xfrm>
            <a:off x="273376" y="350478"/>
            <a:ext cx="4527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b="1" dirty="0"/>
              <a:t>Multimodal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DBAE6-8ADC-4DB2-3D76-FDD3341E86AC}"/>
              </a:ext>
            </a:extLst>
          </p:cNvPr>
          <p:cNvSpPr txBox="1"/>
          <p:nvPr/>
        </p:nvSpPr>
        <p:spPr>
          <a:xfrm>
            <a:off x="273376" y="878959"/>
            <a:ext cx="12000323" cy="697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buNone/>
            </a:pPr>
            <a:r>
              <a:rPr lang="en-US" altLang="ko-KR" sz="1600" b="1"/>
              <a:t>This approach integrates text + visual information (e.g., images, graphs, maps, tables) to produce a combined </a:t>
            </a:r>
            <a:r>
              <a:rPr lang="en-US" altLang="ko-KR" sz="1600" b="1" i="1"/>
              <a:t>visual reasoning + language reasoning</a:t>
            </a:r>
            <a:r>
              <a:rPr lang="en-US" altLang="ko-KR" sz="1600" b="1"/>
              <a:t> chain of thought.</a:t>
            </a:r>
            <a:endParaRPr lang="en-US" altLang="ko-KR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623440-4130-9AAB-C27A-E48111CD3A95}"/>
              </a:ext>
            </a:extLst>
          </p:cNvPr>
          <p:cNvSpPr txBox="1"/>
          <p:nvPr/>
        </p:nvSpPr>
        <p:spPr>
          <a:xfrm>
            <a:off x="385549" y="1896060"/>
            <a:ext cx="6829424" cy="16665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Highly effective for </a:t>
            </a:r>
            <a:r>
              <a:rPr lang="en-US" altLang="ko-KR" sz="1400" b="1" dirty="0"/>
              <a:t>image interpretation</a:t>
            </a:r>
            <a:r>
              <a:rPr lang="en-US" altLang="ko-KR" sz="1400" dirty="0"/>
              <a:t>, </a:t>
            </a:r>
            <a:r>
              <a:rPr lang="en-US" altLang="ko-KR" sz="1400" b="1" dirty="0"/>
              <a:t>graph reading</a:t>
            </a:r>
            <a:r>
              <a:rPr lang="en-US" altLang="ko-KR" sz="1400" dirty="0"/>
              <a:t>, </a:t>
            </a:r>
            <a:r>
              <a:rPr lang="en-US" altLang="ko-KR" sz="1400" b="1" dirty="0"/>
              <a:t>table analysis</a:t>
            </a:r>
            <a:r>
              <a:rPr lang="en-US" altLang="ko-KR" sz="1400" dirty="0"/>
              <a:t>, and </a:t>
            </a:r>
            <a:r>
              <a:rPr lang="en-US" altLang="ko-KR" sz="1400" b="1" dirty="0"/>
              <a:t>map understanding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Follows the structure:</a:t>
            </a:r>
            <a:br>
              <a:rPr lang="en-US" altLang="ko-KR" sz="1400" dirty="0"/>
            </a:br>
            <a:r>
              <a:rPr lang="en-US" altLang="ko-KR" sz="1400" b="1" dirty="0"/>
              <a:t>“Interpret the visual input → step-by-step reasoning → final answer”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/>
              <a:t>Rapidly advancing with the rise of modern </a:t>
            </a:r>
            <a:r>
              <a:rPr lang="en-US" altLang="ko-KR" sz="1400" b="1" dirty="0"/>
              <a:t>multimodal LLMs</a:t>
            </a:r>
            <a:endParaRPr lang="ko-KR" altLang="en-US" sz="1400" dirty="0"/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AA000EE0-C5C9-680B-7C83-ECE4A0FF8616}"/>
              </a:ext>
            </a:extLst>
          </p:cNvPr>
          <p:cNvSpPr/>
          <p:nvPr/>
        </p:nvSpPr>
        <p:spPr>
          <a:xfrm>
            <a:off x="328168" y="4204243"/>
            <a:ext cx="397163" cy="246379"/>
          </a:xfrm>
          <a:prstGeom prst="wedgeRoundRectCallout">
            <a:avLst>
              <a:gd name="adj1" fmla="val -20833"/>
              <a:gd name="adj2" fmla="val 84797"/>
              <a:gd name="adj3" fmla="val 16667"/>
            </a:avLst>
          </a:prstGeom>
          <a:ln w="38100">
            <a:solidFill>
              <a:srgbClr val="4E95D9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1CA1947-5E39-E7A0-DB97-9BD66C2A9C03}"/>
              </a:ext>
            </a:extLst>
          </p:cNvPr>
          <p:cNvSpPr/>
          <p:nvPr/>
        </p:nvSpPr>
        <p:spPr>
          <a:xfrm>
            <a:off x="917483" y="4046448"/>
            <a:ext cx="6136817" cy="1932593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3E8BD-BDCD-E4D6-069B-46845F8EDD93}"/>
              </a:ext>
            </a:extLst>
          </p:cNvPr>
          <p:cNvSpPr txBox="1"/>
          <p:nvPr/>
        </p:nvSpPr>
        <p:spPr>
          <a:xfrm>
            <a:off x="995785" y="4142767"/>
            <a:ext cx="61388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Example</a:t>
            </a:r>
            <a:r>
              <a:rPr lang="ko-KR" altLang="en-US" b="1" dirty="0"/>
              <a:t> </a:t>
            </a:r>
            <a:r>
              <a:rPr lang="en-US" altLang="ko-KR" b="1" dirty="0"/>
              <a:t>Prompt:</a:t>
            </a:r>
            <a:endParaRPr lang="ko-KR" altLang="en-US" b="1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51C6676-FAF4-21AC-C862-78AB0D000209}"/>
              </a:ext>
            </a:extLst>
          </p:cNvPr>
          <p:cNvSpPr/>
          <p:nvPr/>
        </p:nvSpPr>
        <p:spPr>
          <a:xfrm>
            <a:off x="7659585" y="1870068"/>
            <a:ext cx="4146866" cy="4590019"/>
          </a:xfrm>
          <a:prstGeom prst="roundRect">
            <a:avLst/>
          </a:prstGeom>
          <a:noFill/>
          <a:ln w="5715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37538-3F9B-4B76-4A91-8A9CEE4A7869}"/>
              </a:ext>
            </a:extLst>
          </p:cNvPr>
          <p:cNvSpPr txBox="1"/>
          <p:nvPr/>
        </p:nvSpPr>
        <p:spPr>
          <a:xfrm>
            <a:off x="9079190" y="1903603"/>
            <a:ext cx="9380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/>
              <a:t>[Image]</a:t>
            </a:r>
            <a:endParaRPr lang="ko-KR" altLang="en-US" sz="1600" b="1" dirty="0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E50CDDBC-1DB3-D246-C0C9-DB3050E3B83E}"/>
              </a:ext>
            </a:extLst>
          </p:cNvPr>
          <p:cNvSpPr/>
          <p:nvPr/>
        </p:nvSpPr>
        <p:spPr>
          <a:xfrm rot="5400000">
            <a:off x="8318097" y="2356256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8AD225-62F9-893A-51A9-44AA8A40BC18}"/>
              </a:ext>
            </a:extLst>
          </p:cNvPr>
          <p:cNvSpPr txBox="1"/>
          <p:nvPr/>
        </p:nvSpPr>
        <p:spPr>
          <a:xfrm>
            <a:off x="8183301" y="2745848"/>
            <a:ext cx="733471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[Text]</a:t>
            </a:r>
            <a:endParaRPr lang="ko-KR" altLang="en-US" sz="1600" b="1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1672ECF4-59A9-E938-7BE1-9B8F6AF0854E}"/>
              </a:ext>
            </a:extLst>
          </p:cNvPr>
          <p:cNvSpPr/>
          <p:nvPr/>
        </p:nvSpPr>
        <p:spPr>
          <a:xfrm rot="5400000">
            <a:off x="9319984" y="3310207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93A26-D588-0A5D-511B-EF17F4D8569B}"/>
              </a:ext>
            </a:extLst>
          </p:cNvPr>
          <p:cNvSpPr txBox="1"/>
          <p:nvPr/>
        </p:nvSpPr>
        <p:spPr>
          <a:xfrm>
            <a:off x="7649118" y="3682228"/>
            <a:ext cx="3829703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[Integrated language–vision analysis]</a:t>
            </a:r>
            <a:endParaRPr lang="ko-KR" altLang="en-US" sz="1600" b="1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64609734-7EB1-7E3C-CE2D-CAD28919A0AE}"/>
              </a:ext>
            </a:extLst>
          </p:cNvPr>
          <p:cNvSpPr/>
          <p:nvPr/>
        </p:nvSpPr>
        <p:spPr>
          <a:xfrm rot="5400000">
            <a:off x="10395156" y="2334199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CD0013-FB8C-39F8-5CD2-8F67CBD4F911}"/>
              </a:ext>
            </a:extLst>
          </p:cNvPr>
          <p:cNvSpPr txBox="1"/>
          <p:nvPr/>
        </p:nvSpPr>
        <p:spPr>
          <a:xfrm>
            <a:off x="9558588" y="2745848"/>
            <a:ext cx="2139240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[Visual information]</a:t>
            </a:r>
            <a:endParaRPr lang="ko-KR" altLang="en-US" sz="1600" b="1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4D875171-6746-09F7-9972-CD8F4792C1E5}"/>
              </a:ext>
            </a:extLst>
          </p:cNvPr>
          <p:cNvSpPr/>
          <p:nvPr/>
        </p:nvSpPr>
        <p:spPr>
          <a:xfrm rot="5400000">
            <a:off x="9319983" y="4253289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D73B74-CCC9-427D-C8D8-17F798AEB849}"/>
              </a:ext>
            </a:extLst>
          </p:cNvPr>
          <p:cNvSpPr txBox="1"/>
          <p:nvPr/>
        </p:nvSpPr>
        <p:spPr>
          <a:xfrm>
            <a:off x="8394605" y="4656837"/>
            <a:ext cx="2612703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[Step-by-step reasoning]</a:t>
            </a:r>
            <a:endParaRPr lang="ko-KR" altLang="en-US" sz="1600" b="1" dirty="0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59AC961E-4A67-4880-82A8-DE17523ACB7C}"/>
              </a:ext>
            </a:extLst>
          </p:cNvPr>
          <p:cNvSpPr/>
          <p:nvPr/>
        </p:nvSpPr>
        <p:spPr>
          <a:xfrm rot="5400000">
            <a:off x="9319983" y="5279980"/>
            <a:ext cx="466105" cy="313088"/>
          </a:xfrm>
          <a:prstGeom prst="rightArrow">
            <a:avLst>
              <a:gd name="adj1" fmla="val 50000"/>
              <a:gd name="adj2" fmla="val 6521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4C8A8B-D025-669C-68B1-321E1CE801A2}"/>
              </a:ext>
            </a:extLst>
          </p:cNvPr>
          <p:cNvSpPr txBox="1"/>
          <p:nvPr/>
        </p:nvSpPr>
        <p:spPr>
          <a:xfrm>
            <a:off x="8118413" y="5701400"/>
            <a:ext cx="2869247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b="1" dirty="0"/>
              <a:t>[Produces the final answer]</a:t>
            </a:r>
            <a:endParaRPr lang="ko-KR" altLang="en-US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115EC-B1F8-1598-99E6-F39EFCA005B9}"/>
              </a:ext>
            </a:extLst>
          </p:cNvPr>
          <p:cNvSpPr txBox="1"/>
          <p:nvPr/>
        </p:nvSpPr>
        <p:spPr>
          <a:xfrm>
            <a:off x="328168" y="1575061"/>
            <a:ext cx="91232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텍스트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+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이미지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또는 그래프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지도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표 등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)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정보를 통합해서 시각적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reasoning + 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언어적 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reasoning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을 </a:t>
            </a:r>
            <a:r>
              <a:rPr lang="en-US" altLang="ko-KR" sz="1200" dirty="0" err="1">
                <a:solidFill>
                  <a:schemeClr val="bg2">
                    <a:lumMod val="50000"/>
                  </a:schemeClr>
                </a:solidFill>
              </a:rPr>
              <a:t>CoT</a:t>
            </a:r>
            <a:r>
              <a:rPr lang="ko-KR" altLang="en-US" sz="1200" dirty="0">
                <a:solidFill>
                  <a:schemeClr val="bg2">
                    <a:lumMod val="50000"/>
                  </a:schemeClr>
                </a:solidFill>
              </a:rPr>
              <a:t>로 표현하는 방식</a:t>
            </a:r>
            <a:r>
              <a:rPr lang="en-US" altLang="ko-KR" sz="12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884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56C1-A14E-6AE4-64C2-35C43099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80EDF19-7A51-B0D5-F6CF-5DA7198A73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052275"/>
              </p:ext>
            </p:extLst>
          </p:nvPr>
        </p:nvGraphicFramePr>
        <p:xfrm>
          <a:off x="555624" y="1052194"/>
          <a:ext cx="10779123" cy="5093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2726">
                  <a:extLst>
                    <a:ext uri="{9D8B030D-6E8A-4147-A177-3AD203B41FA5}">
                      <a16:colId xmlns:a16="http://schemas.microsoft.com/office/drawing/2014/main" val="1551873674"/>
                    </a:ext>
                  </a:extLst>
                </a:gridCol>
                <a:gridCol w="3098799">
                  <a:extLst>
                    <a:ext uri="{9D8B030D-6E8A-4147-A177-3AD203B41FA5}">
                      <a16:colId xmlns:a16="http://schemas.microsoft.com/office/drawing/2014/main" val="3850213909"/>
                    </a:ext>
                  </a:extLst>
                </a:gridCol>
                <a:gridCol w="3098799">
                  <a:extLst>
                    <a:ext uri="{9D8B030D-6E8A-4147-A177-3AD203B41FA5}">
                      <a16:colId xmlns:a16="http://schemas.microsoft.com/office/drawing/2014/main" val="277314443"/>
                    </a:ext>
                  </a:extLst>
                </a:gridCol>
                <a:gridCol w="3098799">
                  <a:extLst>
                    <a:ext uri="{9D8B030D-6E8A-4147-A177-3AD203B41FA5}">
                      <a16:colId xmlns:a16="http://schemas.microsoft.com/office/drawing/2014/main" val="3845381241"/>
                    </a:ext>
                  </a:extLst>
                </a:gridCol>
              </a:tblGrid>
              <a:tr h="5136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 err="1"/>
                        <a:t>CoT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Least-to-Most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Multimodal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dirty="0"/>
                        <a:t>Zero-shot</a:t>
                      </a:r>
                      <a:endParaRPr lang="ko-KR" altLang="en-US" sz="1600" b="1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532831"/>
                  </a:ext>
                </a:extLst>
              </a:tr>
              <a:tr h="810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개념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중심 문제를 하위 문제로 분해해 단계적으로 해결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텍스트</a:t>
                      </a:r>
                      <a:r>
                        <a:rPr lang="en-US" altLang="ko-KR" sz="1600" dirty="0"/>
                        <a:t>+</a:t>
                      </a:r>
                      <a:r>
                        <a:rPr lang="ko-KR" altLang="en-US" sz="1600" dirty="0"/>
                        <a:t>이미지 등 기반 </a:t>
                      </a:r>
                      <a:r>
                        <a:rPr lang="en-US" altLang="ko-KR" sz="1600" dirty="0"/>
                        <a:t>reasoning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예시 없이 단순한 문구로 </a:t>
                      </a:r>
                      <a:r>
                        <a:rPr lang="en-US" altLang="ko-KR" sz="1600" dirty="0" err="1"/>
                        <a:t>CoT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/>
                        <a:t>활성화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5512766"/>
                  </a:ext>
                </a:extLst>
              </a:tr>
              <a:tr h="810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고난도 문제를 구조적으로 해결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시각적</a:t>
                      </a:r>
                      <a:r>
                        <a:rPr lang="en-US" altLang="ko-KR" sz="1600" dirty="0"/>
                        <a:t>+</a:t>
                      </a:r>
                      <a:r>
                        <a:rPr lang="ko-KR" altLang="en-US" sz="1600" dirty="0"/>
                        <a:t>언어적 </a:t>
                      </a:r>
                      <a:r>
                        <a:rPr lang="en-US" altLang="ko-KR" sz="1600" dirty="0"/>
                        <a:t>reasoning </a:t>
                      </a:r>
                      <a:r>
                        <a:rPr lang="ko-KR" altLang="en-US" sz="1600" dirty="0"/>
                        <a:t>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예시 없이도 모델이 단계적 </a:t>
                      </a:r>
                      <a:r>
                        <a:rPr lang="en-US" altLang="ko-KR" sz="1600" dirty="0"/>
                        <a:t>reasoning</a:t>
                      </a:r>
                      <a:r>
                        <a:rPr lang="ko-KR" altLang="en-US" sz="1600" dirty="0"/>
                        <a:t>을 생성하도록 유도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706267"/>
                  </a:ext>
                </a:extLst>
              </a:tr>
              <a:tr h="810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장점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복잡한 </a:t>
                      </a:r>
                      <a:r>
                        <a:rPr lang="en-US" altLang="ko-KR" sz="1600" dirty="0"/>
                        <a:t>reasoning </a:t>
                      </a:r>
                      <a:r>
                        <a:rPr lang="ko-KR" altLang="en-US" sz="1600" dirty="0"/>
                        <a:t>문제에서 효과적인 경향이 있음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시각적</a:t>
                      </a:r>
                      <a:r>
                        <a:rPr lang="en-US" altLang="ko-KR" sz="1600" dirty="0"/>
                        <a:t>+</a:t>
                      </a:r>
                      <a:r>
                        <a:rPr lang="ko-KR" altLang="en-US" sz="1600" dirty="0"/>
                        <a:t>언어적 정보를 함께 활용해 더 정교한 </a:t>
                      </a:r>
                      <a:r>
                        <a:rPr lang="en-US" altLang="ko-KR" sz="1600" dirty="0"/>
                        <a:t>reasoning </a:t>
                      </a:r>
                      <a:r>
                        <a:rPr lang="ko-KR" altLang="en-US" sz="1600" dirty="0"/>
                        <a:t>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간단하고 빠르게 적용가능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6796033"/>
                  </a:ext>
                </a:extLst>
              </a:tr>
              <a:tr h="810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단점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프롬프트가 </a:t>
                      </a:r>
                      <a:r>
                        <a:rPr lang="ko-KR" altLang="en-US" sz="1600" dirty="0" err="1"/>
                        <a:t>길어짐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멀티모달</a:t>
                      </a:r>
                      <a:r>
                        <a:rPr lang="ko-KR" altLang="en-US" sz="1600" dirty="0"/>
                        <a:t> 모델 필요 </a:t>
                      </a:r>
                      <a:endParaRPr lang="en-US" altLang="ko-KR" sz="1600" dirty="0"/>
                    </a:p>
                    <a:p>
                      <a:pPr algn="ctr" latinLnBrk="1"/>
                      <a:r>
                        <a:rPr lang="en-US" altLang="ko-KR" sz="1600" dirty="0"/>
                        <a:t>+ </a:t>
                      </a:r>
                      <a:r>
                        <a:rPr lang="ko-KR" altLang="en-US" sz="1600" dirty="0"/>
                        <a:t>입력 </a:t>
                      </a:r>
                      <a:r>
                        <a:rPr lang="ko-KR" altLang="en-US" sz="1600" dirty="0" err="1"/>
                        <a:t>모달</a:t>
                      </a:r>
                      <a:r>
                        <a:rPr lang="ko-KR" altLang="en-US" sz="1600" dirty="0"/>
                        <a:t> 간 </a:t>
                      </a:r>
                      <a:r>
                        <a:rPr lang="en-US" altLang="ko-KR" sz="1600" dirty="0"/>
                        <a:t>alignment </a:t>
                      </a:r>
                      <a:r>
                        <a:rPr lang="ko-KR" altLang="en-US" sz="1600" dirty="0"/>
                        <a:t>문제가 발생 가능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복잡한 문제에서 </a:t>
                      </a:r>
                      <a:r>
                        <a:rPr lang="en-US" altLang="ko-KR" sz="1600" dirty="0"/>
                        <a:t>reasoning </a:t>
                      </a:r>
                      <a:r>
                        <a:rPr lang="ko-KR" altLang="en-US" sz="1600" dirty="0"/>
                        <a:t>오류가 발생할 수 있음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219253"/>
                  </a:ext>
                </a:extLst>
              </a:tr>
              <a:tr h="5136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적용 분야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코드 설계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장문 논리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그래프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표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지도 등 해석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수학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논리 기반 문제 전반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7373937"/>
                  </a:ext>
                </a:extLst>
              </a:tr>
              <a:tr h="8109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대표 </a:t>
                      </a:r>
                      <a:r>
                        <a:rPr lang="en-US" altLang="ko-KR" sz="1600" dirty="0"/>
                        <a:t>prompt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문제를 분해해서 각 단계별로 해결해라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이미지를 보고 단계적으로 설명해라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Let’s think step by step.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5802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D4ECEA-F9F6-BEAB-173F-23A9C73A1332}"/>
              </a:ext>
            </a:extLst>
          </p:cNvPr>
          <p:cNvSpPr txBox="1"/>
          <p:nvPr/>
        </p:nvSpPr>
        <p:spPr>
          <a:xfrm>
            <a:off x="555624" y="354570"/>
            <a:ext cx="163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Differences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57204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2792F-9281-CC1B-EA2B-808FE38F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E2C0ED-C822-8A9B-BE71-CE2A37924278}"/>
              </a:ext>
            </a:extLst>
          </p:cNvPr>
          <p:cNvSpPr txBox="1"/>
          <p:nvPr/>
        </p:nvSpPr>
        <p:spPr>
          <a:xfrm>
            <a:off x="555624" y="354570"/>
            <a:ext cx="163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Differences</a:t>
            </a:r>
            <a:endParaRPr lang="ko-KR" altLang="en-US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9D31F05-48A0-2ED7-E60C-83BE8CB56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43570"/>
              </p:ext>
            </p:extLst>
          </p:nvPr>
        </p:nvGraphicFramePr>
        <p:xfrm>
          <a:off x="555624" y="933657"/>
          <a:ext cx="10773495" cy="542102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5342">
                  <a:extLst>
                    <a:ext uri="{9D8B030D-6E8A-4147-A177-3AD203B41FA5}">
                      <a16:colId xmlns:a16="http://schemas.microsoft.com/office/drawing/2014/main" val="4050530090"/>
                    </a:ext>
                  </a:extLst>
                </a:gridCol>
                <a:gridCol w="2996051">
                  <a:extLst>
                    <a:ext uri="{9D8B030D-6E8A-4147-A177-3AD203B41FA5}">
                      <a16:colId xmlns:a16="http://schemas.microsoft.com/office/drawing/2014/main" val="4186549402"/>
                    </a:ext>
                  </a:extLst>
                </a:gridCol>
                <a:gridCol w="2996051">
                  <a:extLst>
                    <a:ext uri="{9D8B030D-6E8A-4147-A177-3AD203B41FA5}">
                      <a16:colId xmlns:a16="http://schemas.microsoft.com/office/drawing/2014/main" val="4068914008"/>
                    </a:ext>
                  </a:extLst>
                </a:gridCol>
                <a:gridCol w="2996051">
                  <a:extLst>
                    <a:ext uri="{9D8B030D-6E8A-4147-A177-3AD203B41FA5}">
                      <a16:colId xmlns:a16="http://schemas.microsoft.com/office/drawing/2014/main" val="1781179037"/>
                    </a:ext>
                  </a:extLst>
                </a:gridCol>
              </a:tblGrid>
              <a:tr h="35943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 err="1">
                          <a:effectLst/>
                        </a:rPr>
                        <a:t>CoT</a:t>
                      </a:r>
                      <a:r>
                        <a:rPr lang="en-US" sz="1600" b="1" u="none" strike="noStrike" dirty="0">
                          <a:effectLst/>
                        </a:rPr>
                        <a:t> Type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Least-to-Most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Multimodal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</a:rPr>
                        <a:t>Zero-shot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44386"/>
                  </a:ext>
                </a:extLst>
              </a:tr>
              <a:tr h="10846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Concept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Breaks a complex problem into smaller sub-problems and solves them step-by-step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Performs reasoning based on text + images (or graphs/maps/tables)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Activates CoT using a simple phrase without examples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extLst>
                  <a:ext uri="{0D108BD9-81ED-4DB2-BD59-A6C34878D82A}">
                    <a16:rowId xmlns:a16="http://schemas.microsoft.com/office/drawing/2014/main" val="3278666272"/>
                  </a:ext>
                </a:extLst>
              </a:tr>
              <a:tr h="903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Role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Solves difficult problems in a structured, decomposition-based manner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Integrates visual + linguistic reasoning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Encourages the model to generate step-by-step reasoning without examples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extLst>
                  <a:ext uri="{0D108BD9-81ED-4DB2-BD59-A6C34878D82A}">
                    <a16:rowId xmlns:a16="http://schemas.microsoft.com/office/drawing/2014/main" val="2308229693"/>
                  </a:ext>
                </a:extLst>
              </a:tr>
              <a:tr h="8134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Strengths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Very effective for complex reasoning tasks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Can use both visual &amp; textual information → more precise reasoning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Simple, fast, and easy to apply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extLst>
                  <a:ext uri="{0D108BD9-81ED-4DB2-BD59-A6C34878D82A}">
                    <a16:rowId xmlns:a16="http://schemas.microsoft.com/office/drawing/2014/main" val="1565718439"/>
                  </a:ext>
                </a:extLst>
              </a:tr>
              <a:tr h="903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Limitations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Prompts can become long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Requires a multimodal model; input–modality alignment issues may occur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May generate reasoning errors for complex problems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extLst>
                  <a:ext uri="{0D108BD9-81ED-4DB2-BD59-A6C34878D82A}">
                    <a16:rowId xmlns:a16="http://schemas.microsoft.com/office/drawing/2014/main" val="341541869"/>
                  </a:ext>
                </a:extLst>
              </a:tr>
              <a:tr h="4519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Typical Applications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Code design, logical analysis of text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Graph/table/map interpretation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Math and logic reasoning in general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extLst>
                  <a:ext uri="{0D108BD9-81ED-4DB2-BD59-A6C34878D82A}">
                    <a16:rowId xmlns:a16="http://schemas.microsoft.com/office/drawing/2014/main" val="2768576499"/>
                  </a:ext>
                </a:extLst>
              </a:tr>
              <a:tr h="9038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Representative Prompt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“Break the problem into smaller steps and solve each step.”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“Look at the image and explain step-by-step what is happening.”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“Let’s think step by step.”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10" marR="3410" marT="3410" marB="0" anchor="ctr"/>
                </a:tc>
                <a:extLst>
                  <a:ext uri="{0D108BD9-81ED-4DB2-BD59-A6C34878D82A}">
                    <a16:rowId xmlns:a16="http://schemas.microsoft.com/office/drawing/2014/main" val="1334156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464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2">
            <a:extLst>
              <a:ext uri="{FF2B5EF4-FFF2-40B4-BE49-F238E27FC236}">
                <a16:creationId xmlns:a16="http://schemas.microsoft.com/office/drawing/2014/main" id="{65E6C59C-BADD-6A93-64BD-3D10AF233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1876741"/>
              </p:ext>
            </p:extLst>
          </p:nvPr>
        </p:nvGraphicFramePr>
        <p:xfrm>
          <a:off x="6234593" y="2415879"/>
          <a:ext cx="5681740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70938">
                  <a:extLst>
                    <a:ext uri="{9D8B030D-6E8A-4147-A177-3AD203B41FA5}">
                      <a16:colId xmlns:a16="http://schemas.microsoft.com/office/drawing/2014/main" val="824538878"/>
                    </a:ext>
                  </a:extLst>
                </a:gridCol>
                <a:gridCol w="504551">
                  <a:extLst>
                    <a:ext uri="{9D8B030D-6E8A-4147-A177-3AD203B41FA5}">
                      <a16:colId xmlns:a16="http://schemas.microsoft.com/office/drawing/2014/main" val="44730984"/>
                    </a:ext>
                  </a:extLst>
                </a:gridCol>
                <a:gridCol w="2906251">
                  <a:extLst>
                    <a:ext uri="{9D8B030D-6E8A-4147-A177-3AD203B41FA5}">
                      <a16:colId xmlns:a16="http://schemas.microsoft.com/office/drawing/2014/main" val="3999765678"/>
                    </a:ext>
                  </a:extLst>
                </a:gridCol>
              </a:tblGrid>
              <a:tr h="218331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 err="1">
                          <a:effectLst/>
                        </a:rPr>
                        <a:t>변수명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>
                          <a:effectLst/>
                        </a:rPr>
                        <a:t>값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b="1" dirty="0">
                          <a:effectLst/>
                        </a:rPr>
                        <a:t>설명</a:t>
                      </a:r>
                      <a:endParaRPr lang="ko-KR" altLang="en-US" sz="12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0044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learning_rate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1e-4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</a:rPr>
                        <a:t>학습률 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en-US" sz="1200">
                          <a:effectLst/>
                        </a:rPr>
                        <a:t>TrainingArguments</a:t>
                      </a:r>
                      <a:r>
                        <a:rPr lang="ko-KR" altLang="en-US" sz="1200">
                          <a:effectLst/>
                        </a:rPr>
                        <a:t>의 </a:t>
                      </a:r>
                      <a:r>
                        <a:rPr lang="en-US" sz="1200">
                          <a:effectLst/>
                        </a:rPr>
                        <a:t>LR)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59611388"/>
                  </a:ext>
                </a:extLst>
              </a:tr>
              <a:tr h="218331">
                <a:tc>
                  <a:txBody>
                    <a:bodyPr/>
                    <a:lstStyle/>
                    <a:p>
                      <a:pPr algn="l"/>
                      <a:r>
                        <a:rPr lang="en-US" sz="1200" dirty="0" err="1">
                          <a:effectLst/>
                        </a:rPr>
                        <a:t>num_train_epochs</a:t>
                      </a:r>
                      <a:endParaRPr 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1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</a:rPr>
                        <a:t>총 에포크 수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957572815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lora_r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16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LoRA </a:t>
                      </a:r>
                      <a:r>
                        <a:rPr lang="ko-KR" altLang="en-US" sz="1200">
                          <a:effectLst/>
                        </a:rPr>
                        <a:t>랭크</a:t>
                      </a: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저계수 차원수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en-US" sz="1200">
                          <a:effectLst/>
                        </a:rPr>
                        <a:t>LoraConfig r)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1675101475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lora_alpha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32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LoRA </a:t>
                      </a:r>
                      <a:r>
                        <a:rPr lang="ko-KR" altLang="en-US" sz="1200">
                          <a:effectLst/>
                        </a:rPr>
                        <a:t>학습률 스케일</a:t>
                      </a:r>
                      <a:r>
                        <a:rPr lang="en-US" altLang="ko-KR" sz="1200">
                          <a:effectLst/>
                        </a:rPr>
                        <a:t>(Alpha)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774440933"/>
                  </a:ext>
                </a:extLst>
              </a:tr>
              <a:tr h="21833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lora_dropout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0.05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LoRA </a:t>
                      </a:r>
                      <a:r>
                        <a:rPr lang="ko-KR" altLang="en-US" sz="1200">
                          <a:effectLst/>
                        </a:rPr>
                        <a:t>드롭아웃 비율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524969272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warmup_ratio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0.0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학습 초반 </a:t>
                      </a:r>
                      <a:r>
                        <a:rPr lang="en-US" sz="1200" dirty="0">
                          <a:effectLst/>
                        </a:rPr>
                        <a:t>learning rate </a:t>
                      </a:r>
                      <a:r>
                        <a:rPr lang="ko-KR" altLang="en-US" sz="1200" dirty="0" err="1">
                          <a:effectLst/>
                        </a:rPr>
                        <a:t>웜업</a:t>
                      </a:r>
                      <a:r>
                        <a:rPr lang="ko-KR" altLang="en-US" sz="1200" dirty="0">
                          <a:effectLst/>
                        </a:rPr>
                        <a:t> 비율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455870564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per_device_train_batch_size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1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>
                          <a:effectLst/>
                        </a:rPr>
                        <a:t>배치 크기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02174832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gradient_accumulation_steps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16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gradient </a:t>
                      </a:r>
                      <a:r>
                        <a:rPr lang="ko-KR" altLang="en-US" sz="1200">
                          <a:effectLst/>
                        </a:rPr>
                        <a:t>누적 스텝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430816232"/>
                  </a:ext>
                </a:extLst>
              </a:tr>
              <a:tr h="285472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effectLst/>
                        </a:rPr>
                        <a:t>max_seq_length (MAX_LEN)</a:t>
                      </a:r>
                      <a:endParaRPr 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200">
                          <a:effectLst/>
                        </a:rPr>
                        <a:t>2048</a:t>
                      </a:r>
                      <a:endParaRPr lang="en-US" altLang="ko-KR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200" dirty="0">
                          <a:effectLst/>
                        </a:rPr>
                        <a:t>최대 토큰 길이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6130525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201CE98-82D0-2DFB-A53D-405815AD4941}"/>
              </a:ext>
            </a:extLst>
          </p:cNvPr>
          <p:cNvSpPr txBox="1"/>
          <p:nvPr/>
        </p:nvSpPr>
        <p:spPr>
          <a:xfrm>
            <a:off x="275667" y="3059668"/>
            <a:ext cx="513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New Adapter (week7_lora_v03)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CB3487-2D88-9775-787B-4C0E5CA46764}"/>
              </a:ext>
            </a:extLst>
          </p:cNvPr>
          <p:cNvSpPr txBox="1"/>
          <p:nvPr/>
        </p:nvSpPr>
        <p:spPr>
          <a:xfrm>
            <a:off x="275667" y="516141"/>
            <a:ext cx="5664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Incremental Fine-Tuning python terminal output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D27E1-0859-AA3A-2279-15DEF07D4BBB}"/>
              </a:ext>
            </a:extLst>
          </p:cNvPr>
          <p:cNvSpPr txBox="1"/>
          <p:nvPr/>
        </p:nvSpPr>
        <p:spPr>
          <a:xfrm>
            <a:off x="6301153" y="1936071"/>
            <a:ext cx="5134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Hyperparameters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4B8274-FAC5-8EC0-811B-C8F107C7C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40" y="3513468"/>
            <a:ext cx="5000135" cy="164042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9CB40EF-8B56-6E2A-09F3-A97929E7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069"/>
          <a:stretch>
            <a:fillRect/>
          </a:stretch>
        </p:blipFill>
        <p:spPr>
          <a:xfrm>
            <a:off x="635317" y="969941"/>
            <a:ext cx="3624263" cy="144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49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B3EC516-1C9C-45F5-1511-02B8CE47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6" y="3761581"/>
            <a:ext cx="8247926" cy="261922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B982CD-A520-C7B0-2B56-464EB69CC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56" y="978621"/>
            <a:ext cx="2724582" cy="28018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2F20EE2-8B1E-BBC2-532E-28BB638C4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238" y="978621"/>
            <a:ext cx="5454863" cy="278296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81407AA4-C8F4-28D4-D850-B71F581808B5}"/>
              </a:ext>
            </a:extLst>
          </p:cNvPr>
          <p:cNvSpPr/>
          <p:nvPr/>
        </p:nvSpPr>
        <p:spPr>
          <a:xfrm>
            <a:off x="8487544" y="2988497"/>
            <a:ext cx="448408" cy="3185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D96BBB-78D2-7896-2D50-6BE755AD9350}"/>
              </a:ext>
            </a:extLst>
          </p:cNvPr>
          <p:cNvSpPr txBox="1"/>
          <p:nvPr/>
        </p:nvSpPr>
        <p:spPr>
          <a:xfrm>
            <a:off x="332198" y="235925"/>
            <a:ext cx="4160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/>
              </a:rPr>
              <a:t>[</a:t>
            </a:r>
            <a:r>
              <a:rPr lang="en-US" altLang="ko-KR" sz="2800" b="1" dirty="0" err="1">
                <a:effectLst/>
              </a:rPr>
              <a:t>TensorBoard</a:t>
            </a:r>
            <a:r>
              <a:rPr lang="en-US" altLang="ko-KR" sz="2800" b="1" dirty="0">
                <a:effectLst/>
              </a:rPr>
              <a:t> OUTPUT] </a:t>
            </a:r>
          </a:p>
        </p:txBody>
      </p:sp>
    </p:spTree>
    <p:extLst>
      <p:ext uri="{BB962C8B-B14F-4D97-AF65-F5344CB8AC3E}">
        <p14:creationId xmlns:p14="http://schemas.microsoft.com/office/powerpoint/2010/main" val="1789560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64A834D-7DBB-8C04-9AD4-DE966852A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68" y="3721787"/>
            <a:ext cx="3454652" cy="304968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2CE2AD9-8773-9E3C-49FA-C5CD0F883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04" y="643160"/>
            <a:ext cx="3449939" cy="311980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DD461D1-2E79-8BA6-BE5E-BA90EC6B19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544" y="655539"/>
            <a:ext cx="3482952" cy="3095041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3D4A916-0B15-4AB4-C281-5793356599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121" y="700898"/>
            <a:ext cx="3346406" cy="304968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6952B86-DA91-D00E-100E-A133E2B948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544" y="3721787"/>
            <a:ext cx="3411201" cy="309504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C48C9D6A-487B-DDCD-23BD-291236107C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960" y="3762959"/>
            <a:ext cx="3446193" cy="309504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E55BECA-81C7-A78D-EA32-3EEC84A5579A}"/>
              </a:ext>
            </a:extLst>
          </p:cNvPr>
          <p:cNvSpPr txBox="1"/>
          <p:nvPr/>
        </p:nvSpPr>
        <p:spPr>
          <a:xfrm>
            <a:off x="332198" y="235925"/>
            <a:ext cx="4160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effectLst/>
              </a:rPr>
              <a:t>[</a:t>
            </a:r>
            <a:r>
              <a:rPr lang="en-US" altLang="ko-KR" sz="2800" b="1" dirty="0" err="1">
                <a:effectLst/>
              </a:rPr>
              <a:t>TensorBoard</a:t>
            </a:r>
            <a:r>
              <a:rPr lang="en-US" altLang="ko-KR" sz="2800" b="1" dirty="0">
                <a:effectLst/>
              </a:rPr>
              <a:t> OUTPUT] </a:t>
            </a:r>
          </a:p>
        </p:txBody>
      </p:sp>
    </p:spTree>
    <p:extLst>
      <p:ext uri="{BB962C8B-B14F-4D97-AF65-F5344CB8AC3E}">
        <p14:creationId xmlns:p14="http://schemas.microsoft.com/office/powerpoint/2010/main" val="400639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2AA1B8-4DB0-3852-D10F-BAD02CB59ED2}"/>
              </a:ext>
            </a:extLst>
          </p:cNvPr>
          <p:cNvSpPr txBox="1"/>
          <p:nvPr/>
        </p:nvSpPr>
        <p:spPr>
          <a:xfrm>
            <a:off x="1090982" y="1223243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b="1" dirty="0"/>
              <a:t>This week's assignment </a:t>
            </a:r>
            <a:r>
              <a:rPr lang="en-US" altLang="ko-KR" dirty="0"/>
              <a:t>(W6)&gt;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B3DBE-F0A5-0939-97BA-B969821640F6}"/>
              </a:ext>
            </a:extLst>
          </p:cNvPr>
          <p:cNvSpPr txBox="1"/>
          <p:nvPr/>
        </p:nvSpPr>
        <p:spPr>
          <a:xfrm>
            <a:off x="1987801" y="4823994"/>
            <a:ext cx="195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week6_lora_v02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AF5324-5B1E-99BC-78AC-C75D76798B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01"/>
          <a:stretch/>
        </p:blipFill>
        <p:spPr>
          <a:xfrm>
            <a:off x="1361078" y="1761156"/>
            <a:ext cx="3048996" cy="289123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4B07CC-8162-AEC8-EF67-4A7958679A4F}"/>
              </a:ext>
            </a:extLst>
          </p:cNvPr>
          <p:cNvSpPr/>
          <p:nvPr/>
        </p:nvSpPr>
        <p:spPr>
          <a:xfrm>
            <a:off x="2739538" y="3782804"/>
            <a:ext cx="448408" cy="422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A2F2E84-4B5D-01A3-3D6A-F29A891C744E}"/>
              </a:ext>
            </a:extLst>
          </p:cNvPr>
          <p:cNvSpPr/>
          <p:nvPr/>
        </p:nvSpPr>
        <p:spPr>
          <a:xfrm>
            <a:off x="1517406" y="1882287"/>
            <a:ext cx="703385" cy="1934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E39EEA-F5FD-3157-6146-ABEE619D4686}"/>
              </a:ext>
            </a:extLst>
          </p:cNvPr>
          <p:cNvSpPr txBox="1"/>
          <p:nvPr/>
        </p:nvSpPr>
        <p:spPr>
          <a:xfrm>
            <a:off x="2327991" y="4204835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Decent fit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7750B5D-9367-8B67-DB06-745150F35F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39" b="12674"/>
          <a:stretch>
            <a:fillRect/>
          </a:stretch>
        </p:blipFill>
        <p:spPr>
          <a:xfrm>
            <a:off x="7149611" y="1592576"/>
            <a:ext cx="3248758" cy="289124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A97826C-E405-BF89-62DB-41F539D8C9AA}"/>
              </a:ext>
            </a:extLst>
          </p:cNvPr>
          <p:cNvSpPr/>
          <p:nvPr/>
        </p:nvSpPr>
        <p:spPr>
          <a:xfrm>
            <a:off x="8549786" y="3993820"/>
            <a:ext cx="556114" cy="3495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5D7E77-ADBF-4C00-9577-C7580D25E352}"/>
              </a:ext>
            </a:extLst>
          </p:cNvPr>
          <p:cNvSpPr txBox="1"/>
          <p:nvPr/>
        </p:nvSpPr>
        <p:spPr>
          <a:xfrm>
            <a:off x="6936398" y="1223243"/>
            <a:ext cx="3675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b="1" dirty="0"/>
              <a:t>This week's assignment </a:t>
            </a:r>
            <a:r>
              <a:rPr lang="en-US" altLang="ko-KR" dirty="0"/>
              <a:t>(W7)&gt;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D188AF-AB75-C523-C05B-D880460E14A2}"/>
              </a:ext>
            </a:extLst>
          </p:cNvPr>
          <p:cNvSpPr txBox="1"/>
          <p:nvPr/>
        </p:nvSpPr>
        <p:spPr>
          <a:xfrm>
            <a:off x="7851902" y="4961277"/>
            <a:ext cx="195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week7_lora_v03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929DB-06FF-9E98-449D-10CD8389178A}"/>
              </a:ext>
            </a:extLst>
          </p:cNvPr>
          <p:cNvSpPr txBox="1"/>
          <p:nvPr/>
        </p:nvSpPr>
        <p:spPr>
          <a:xfrm>
            <a:off x="1206745" y="5505839"/>
            <a:ext cx="9778509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The higher train loss observed in Week 7 compared to Week 6 is likely due to the model being exposed to a larger proportion of new and diverse instruction–answer patterns.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6373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B642641-2693-6A10-51BA-AA06CD0F7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1995487"/>
            <a:ext cx="5353050" cy="26425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BD3348-9640-6842-1204-2F5D92CB826B}"/>
              </a:ext>
            </a:extLst>
          </p:cNvPr>
          <p:cNvSpPr txBox="1"/>
          <p:nvPr/>
        </p:nvSpPr>
        <p:spPr>
          <a:xfrm>
            <a:off x="6029325" y="2050863"/>
            <a:ext cx="6096000" cy="2531783"/>
          </a:xfrm>
          <a:prstGeom prst="rect">
            <a:avLst/>
          </a:prstGeom>
          <a:noFill/>
          <a:ln w="28575">
            <a:solidFill>
              <a:srgbClr val="4E95D9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You are a geology and hyperspectral remote sensing assistant</a:t>
            </a:r>
            <a:r>
              <a:rPr lang="ko-KR" altLang="en-US" dirty="0"/>
              <a:t>. </a:t>
            </a:r>
            <a:r>
              <a:rPr lang="ko-KR" altLang="en-US" dirty="0" err="1"/>
              <a:t>When</a:t>
            </a:r>
            <a:r>
              <a:rPr lang="ko-KR" altLang="en-US" dirty="0"/>
              <a:t> </a:t>
            </a:r>
            <a:r>
              <a:rPr lang="ko-KR" altLang="en-US" dirty="0" err="1"/>
              <a:t>answering</a:t>
            </a:r>
            <a:r>
              <a:rPr lang="ko-KR" altLang="en-US" dirty="0"/>
              <a:t>, </a:t>
            </a:r>
            <a:r>
              <a:rPr lang="ko-KR" altLang="en-US" dirty="0" err="1"/>
              <a:t>follow</a:t>
            </a:r>
            <a:r>
              <a:rPr lang="ko-KR" altLang="en-US" dirty="0"/>
              <a:t> </a:t>
            </a:r>
            <a:r>
              <a:rPr lang="ko-KR" altLang="en-US" dirty="0" err="1"/>
              <a:t>these</a:t>
            </a:r>
            <a:r>
              <a:rPr lang="ko-KR" altLang="en-US" dirty="0"/>
              <a:t> </a:t>
            </a:r>
            <a:r>
              <a:rPr lang="ko-KR" altLang="en-US" dirty="0" err="1"/>
              <a:t>steps</a:t>
            </a:r>
            <a:r>
              <a:rPr lang="ko-KR" altLang="en-US" dirty="0"/>
              <a:t>: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1. </a:t>
            </a:r>
            <a:r>
              <a:rPr lang="ko-KR" altLang="en-US" dirty="0" err="1"/>
              <a:t>Analyze</a:t>
            </a:r>
            <a:r>
              <a:rPr lang="ko-KR" altLang="en-US" dirty="0"/>
              <a:t> </a:t>
            </a:r>
            <a:r>
              <a:rPr lang="ko-KR" altLang="en-US" dirty="0" err="1"/>
              <a:t>the</a:t>
            </a:r>
            <a:r>
              <a:rPr lang="ko-KR" altLang="en-US" dirty="0"/>
              <a:t> </a:t>
            </a:r>
            <a:r>
              <a:rPr lang="ko-KR" altLang="en-US" dirty="0" err="1"/>
              <a:t>question</a:t>
            </a:r>
            <a:r>
              <a:rPr lang="ko-KR" alt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2. </a:t>
            </a:r>
            <a:r>
              <a:rPr lang="ko-KR" altLang="en-US" dirty="0" err="1"/>
              <a:t>Break</a:t>
            </a:r>
            <a:r>
              <a:rPr lang="ko-KR" altLang="en-US" dirty="0"/>
              <a:t> </a:t>
            </a:r>
            <a:r>
              <a:rPr lang="ko-KR" altLang="en-US" dirty="0" err="1"/>
              <a:t>down</a:t>
            </a:r>
            <a:r>
              <a:rPr lang="ko-KR" altLang="en-US" dirty="0"/>
              <a:t> </a:t>
            </a:r>
            <a:r>
              <a:rPr lang="ko-KR" altLang="en-US" dirty="0" err="1"/>
              <a:t>the</a:t>
            </a:r>
            <a:r>
              <a:rPr lang="ko-KR" altLang="en-US" dirty="0"/>
              <a:t> </a:t>
            </a:r>
            <a:r>
              <a:rPr lang="ko-KR" altLang="en-US" dirty="0" err="1"/>
              <a:t>relevant</a:t>
            </a:r>
            <a:r>
              <a:rPr lang="ko-KR" altLang="en-US" dirty="0"/>
              <a:t> </a:t>
            </a:r>
            <a:r>
              <a:rPr lang="ko-KR" altLang="en-US" dirty="0" err="1"/>
              <a:t>information</a:t>
            </a:r>
            <a:r>
              <a:rPr lang="ko-KR" altLang="en-US" dirty="0"/>
              <a:t> </a:t>
            </a:r>
            <a:r>
              <a:rPr lang="ko-KR" altLang="en-US" dirty="0" err="1"/>
              <a:t>into</a:t>
            </a:r>
            <a:r>
              <a:rPr lang="ko-KR" altLang="en-US" dirty="0"/>
              <a:t> </a:t>
            </a:r>
            <a:r>
              <a:rPr lang="ko-KR" altLang="en-US" dirty="0" err="1"/>
              <a:t>key</a:t>
            </a:r>
            <a:r>
              <a:rPr lang="ko-KR" altLang="en-US" dirty="0"/>
              <a:t> </a:t>
            </a:r>
            <a:r>
              <a:rPr lang="ko-KR" altLang="en-US" dirty="0" err="1"/>
              <a:t>factors</a:t>
            </a:r>
            <a:r>
              <a:rPr lang="ko-KR" alt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3. </a:t>
            </a:r>
            <a:r>
              <a:rPr lang="ko-KR" altLang="en-US" dirty="0" err="1"/>
              <a:t>Perform</a:t>
            </a:r>
            <a:r>
              <a:rPr lang="ko-KR" altLang="en-US" dirty="0"/>
              <a:t> </a:t>
            </a:r>
            <a:r>
              <a:rPr lang="ko-KR" altLang="en-US" dirty="0" err="1"/>
              <a:t>logical</a:t>
            </a:r>
            <a:r>
              <a:rPr lang="ko-KR" altLang="en-US" dirty="0"/>
              <a:t> </a:t>
            </a:r>
            <a:r>
              <a:rPr lang="ko-KR" altLang="en-US" dirty="0" err="1"/>
              <a:t>reasoning</a:t>
            </a:r>
            <a:r>
              <a:rPr lang="ko-KR" altLang="en-US" dirty="0"/>
              <a:t> </a:t>
            </a:r>
            <a:r>
              <a:rPr lang="ko-KR" altLang="en-US" dirty="0" err="1"/>
              <a:t>step-by-step</a:t>
            </a:r>
            <a:r>
              <a:rPr lang="ko-KR" alt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4. </a:t>
            </a:r>
            <a:r>
              <a:rPr lang="ko-KR" altLang="en-US" dirty="0" err="1"/>
              <a:t>Then</a:t>
            </a:r>
            <a:r>
              <a:rPr lang="ko-KR" altLang="en-US" dirty="0"/>
              <a:t> </a:t>
            </a:r>
            <a:r>
              <a:rPr lang="ko-KR" altLang="en-US" dirty="0" err="1"/>
              <a:t>provide</a:t>
            </a:r>
            <a:r>
              <a:rPr lang="ko-KR" altLang="en-US" dirty="0"/>
              <a:t> </a:t>
            </a:r>
            <a:r>
              <a:rPr lang="ko-KR" altLang="en-US" dirty="0" err="1"/>
              <a:t>the</a:t>
            </a:r>
            <a:r>
              <a:rPr lang="ko-KR" altLang="en-US" dirty="0"/>
              <a:t> </a:t>
            </a:r>
            <a:r>
              <a:rPr lang="ko-KR" altLang="en-US" dirty="0" err="1"/>
              <a:t>final</a:t>
            </a:r>
            <a:r>
              <a:rPr lang="ko-KR" altLang="en-US" dirty="0"/>
              <a:t> </a:t>
            </a:r>
            <a:r>
              <a:rPr lang="ko-KR" altLang="en-US" dirty="0" err="1"/>
              <a:t>concise</a:t>
            </a:r>
            <a:r>
              <a:rPr lang="ko-KR" altLang="en-US" dirty="0"/>
              <a:t> </a:t>
            </a:r>
            <a:r>
              <a:rPr lang="ko-KR" altLang="en-US" dirty="0" err="1"/>
              <a:t>answer</a:t>
            </a:r>
            <a:r>
              <a:rPr lang="ko-KR" alt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2F3CE-C86F-D85A-D476-8C301A8CF650}"/>
              </a:ext>
            </a:extLst>
          </p:cNvPr>
          <p:cNvSpPr txBox="1"/>
          <p:nvPr/>
        </p:nvSpPr>
        <p:spPr>
          <a:xfrm>
            <a:off x="8162925" y="4815959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Chaining</a:t>
            </a:r>
            <a:endParaRPr lang="ko-KR" alt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2C428-904B-2F0F-8F34-ED20DC406FE0}"/>
              </a:ext>
            </a:extLst>
          </p:cNvPr>
          <p:cNvSpPr txBox="1"/>
          <p:nvPr/>
        </p:nvSpPr>
        <p:spPr>
          <a:xfrm>
            <a:off x="2228850" y="4815959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dirty="0"/>
              <a:t>Normal</a:t>
            </a:r>
            <a:endParaRPr lang="ko-KR" altLang="en-US" sz="2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59A21B-C97C-09A2-90A9-386FCB8C2A7F}"/>
              </a:ext>
            </a:extLst>
          </p:cNvPr>
          <p:cNvSpPr txBox="1"/>
          <p:nvPr/>
        </p:nvSpPr>
        <p:spPr>
          <a:xfrm>
            <a:off x="142875" y="22490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2000" b="1" i="0" dirty="0">
                <a:solidFill>
                  <a:srgbClr val="159957"/>
                </a:solidFill>
                <a:effectLst/>
                <a:latin typeface="Open Sans" panose="020B0606030504020204" pitchFamily="34" charset="0"/>
              </a:rPr>
              <a:t>Prompt Chaining Test</a:t>
            </a:r>
            <a:endParaRPr lang="en-US" altLang="ko-KR" sz="2000" b="0" i="0" dirty="0">
              <a:solidFill>
                <a:srgbClr val="159957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694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F835-4D71-D875-9F91-75DF0FBF0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6BE94F9-A160-DAD9-BD87-5DE011FAB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8" y="2733564"/>
            <a:ext cx="5297264" cy="3419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8141F9-032A-A023-2FE6-27957AA228B2}"/>
              </a:ext>
            </a:extLst>
          </p:cNvPr>
          <p:cNvSpPr txBox="1"/>
          <p:nvPr/>
        </p:nvSpPr>
        <p:spPr>
          <a:xfrm>
            <a:off x="280988" y="1052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Inter"/>
              </a:rPr>
              <a:t>Why do the authors propose geographically adaptive models (regional/local) instead of a single global regression for </a:t>
            </a:r>
            <a:r>
              <a:rPr lang="en-US" altLang="ko-KR" b="0" i="0" dirty="0" err="1">
                <a:effectLst/>
                <a:latin typeface="Inter"/>
              </a:rPr>
              <a:t>Chl</a:t>
            </a:r>
            <a:r>
              <a:rPr lang="en-US" altLang="ko-KR" b="0" i="0" dirty="0">
                <a:effectLst/>
                <a:latin typeface="Inter"/>
              </a:rPr>
              <a:t>-a retrieval in inland waters?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ADBE165-562B-8125-2CA9-98CDAD60A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740" y="1028589"/>
            <a:ext cx="5158522" cy="5124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907D7A-47BD-88CE-9481-6BD6560DFEBA}"/>
              </a:ext>
            </a:extLst>
          </p:cNvPr>
          <p:cNvSpPr txBox="1"/>
          <p:nvPr/>
        </p:nvSpPr>
        <p:spPr>
          <a:xfrm>
            <a:off x="2151381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week6_lora_v02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049739-E4BF-603C-CBAB-65AC3CC8C865}"/>
              </a:ext>
            </a:extLst>
          </p:cNvPr>
          <p:cNvSpPr txBox="1"/>
          <p:nvPr/>
        </p:nvSpPr>
        <p:spPr>
          <a:xfrm>
            <a:off x="8155839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week7_lora_v03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07F26-984A-795C-EEF3-EB197A735487}"/>
              </a:ext>
            </a:extLst>
          </p:cNvPr>
          <p:cNvSpPr txBox="1"/>
          <p:nvPr/>
        </p:nvSpPr>
        <p:spPr>
          <a:xfrm>
            <a:off x="10510837" y="105259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dirty="0">
                <a:solidFill>
                  <a:srgbClr val="4E95D9"/>
                </a:solidFill>
              </a:rPr>
              <a:t>Normal</a:t>
            </a:r>
            <a:endParaRPr lang="ko-KR" altLang="en-US" sz="2400" b="1" dirty="0">
              <a:solidFill>
                <a:srgbClr val="4E95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20421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B6A727-F7C2-96E6-7372-F9ADBCAEA963}"/>
              </a:ext>
            </a:extLst>
          </p:cNvPr>
          <p:cNvSpPr txBox="1"/>
          <p:nvPr/>
        </p:nvSpPr>
        <p:spPr>
          <a:xfrm>
            <a:off x="9672637" y="133834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dirty="0">
                <a:solidFill>
                  <a:srgbClr val="4E95D9"/>
                </a:solidFill>
              </a:rPr>
              <a:t>With chaining</a:t>
            </a:r>
            <a:endParaRPr lang="ko-KR" altLang="en-US" sz="2400" b="1" dirty="0">
              <a:solidFill>
                <a:srgbClr val="4E95D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81664-10E8-96F4-61E4-838504AADC64}"/>
              </a:ext>
            </a:extLst>
          </p:cNvPr>
          <p:cNvSpPr txBox="1"/>
          <p:nvPr/>
        </p:nvSpPr>
        <p:spPr>
          <a:xfrm>
            <a:off x="280988" y="10525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Inter"/>
              </a:rPr>
              <a:t>Why do the authors propose geographically adaptive models (regional/local) instead of a single global regression for </a:t>
            </a:r>
            <a:r>
              <a:rPr lang="en-US" altLang="ko-KR" b="0" i="0" dirty="0" err="1">
                <a:effectLst/>
                <a:latin typeface="Inter"/>
              </a:rPr>
              <a:t>Chl</a:t>
            </a:r>
            <a:r>
              <a:rPr lang="en-US" altLang="ko-KR" b="0" i="0" dirty="0">
                <a:effectLst/>
                <a:latin typeface="Inter"/>
              </a:rPr>
              <a:t>-a retrieval in inland waters?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9B4FC-61EC-5594-E012-9B88CF5E3BDB}"/>
              </a:ext>
            </a:extLst>
          </p:cNvPr>
          <p:cNvSpPr txBox="1"/>
          <p:nvPr/>
        </p:nvSpPr>
        <p:spPr>
          <a:xfrm>
            <a:off x="2151381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week6_lora_v02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0459C-E3E3-B41B-C0BB-2D1D71DF2198}"/>
              </a:ext>
            </a:extLst>
          </p:cNvPr>
          <p:cNvSpPr txBox="1"/>
          <p:nvPr/>
        </p:nvSpPr>
        <p:spPr>
          <a:xfrm>
            <a:off x="8155839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week7_lora_v03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3583293-BECC-9DBF-98B9-D80B3E159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912" y="581864"/>
            <a:ext cx="3160246" cy="30741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60AAD3E-4F01-F916-1403-C6F9CC2CB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912" y="3655999"/>
            <a:ext cx="3160246" cy="24970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133640-CD1A-9DC5-C99C-066AF40B5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393" y="1080887"/>
            <a:ext cx="2850619" cy="22717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B0F1EB1-A7D2-3EAC-244D-8870A3D138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7583" y="3352599"/>
            <a:ext cx="2843429" cy="234493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8595244-0517-DF3B-6FC1-FBE40DE2F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90" y="1080887"/>
            <a:ext cx="4789636" cy="507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849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ECFE8F-F379-0F14-1C74-3D4F6D01CFD2}"/>
              </a:ext>
            </a:extLst>
          </p:cNvPr>
          <p:cNvSpPr txBox="1"/>
          <p:nvPr/>
        </p:nvSpPr>
        <p:spPr>
          <a:xfrm>
            <a:off x="314325" y="2908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Inter"/>
              </a:rPr>
              <a:t>Which atmospheric correction methods performed best for Sentinel-2A and for the airborne hyperspectral imagery, and what geolocation accuracies (RMSE) were achieved?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86419A1-339B-2EBA-7FA2-8AA88171F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2" y="2133600"/>
            <a:ext cx="5638273" cy="39243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4D7DC9A-5230-09ED-8BAA-355FDC03B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650" y="1371600"/>
            <a:ext cx="6037587" cy="4400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927D92-D5D9-2957-E6E3-7694A3E56200}"/>
              </a:ext>
            </a:extLst>
          </p:cNvPr>
          <p:cNvSpPr txBox="1"/>
          <p:nvPr/>
        </p:nvSpPr>
        <p:spPr>
          <a:xfrm>
            <a:off x="2151381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week6_lora_v02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08BD7-4CF4-96DB-A54C-5E4192E3FD21}"/>
              </a:ext>
            </a:extLst>
          </p:cNvPr>
          <p:cNvSpPr txBox="1"/>
          <p:nvPr/>
        </p:nvSpPr>
        <p:spPr>
          <a:xfrm>
            <a:off x="8155839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week7_lora_v03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019B6-6C92-627B-596D-98C0C132CF09}"/>
              </a:ext>
            </a:extLst>
          </p:cNvPr>
          <p:cNvSpPr txBox="1"/>
          <p:nvPr/>
        </p:nvSpPr>
        <p:spPr>
          <a:xfrm>
            <a:off x="10510837" y="105259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dirty="0">
                <a:solidFill>
                  <a:srgbClr val="4E95D9"/>
                </a:solidFill>
              </a:rPr>
              <a:t>Normal</a:t>
            </a:r>
            <a:endParaRPr lang="ko-KR" altLang="en-US" sz="2400" b="1" dirty="0">
              <a:solidFill>
                <a:srgbClr val="4E95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261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412C7-B49D-119B-F0B5-3EBE0B50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E408A6-B679-96E7-9D1B-F16BF4DF9DB7}"/>
              </a:ext>
            </a:extLst>
          </p:cNvPr>
          <p:cNvSpPr txBox="1"/>
          <p:nvPr/>
        </p:nvSpPr>
        <p:spPr>
          <a:xfrm>
            <a:off x="9672637" y="133834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dirty="0">
                <a:solidFill>
                  <a:srgbClr val="4E95D9"/>
                </a:solidFill>
              </a:rPr>
              <a:t>With chaining</a:t>
            </a:r>
            <a:endParaRPr lang="ko-KR" altLang="en-US" sz="2400" b="1" dirty="0">
              <a:solidFill>
                <a:srgbClr val="4E95D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19026-D0EE-1116-4D00-3F1EB9BD0EC7}"/>
              </a:ext>
            </a:extLst>
          </p:cNvPr>
          <p:cNvSpPr txBox="1"/>
          <p:nvPr/>
        </p:nvSpPr>
        <p:spPr>
          <a:xfrm>
            <a:off x="314325" y="2908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Inter"/>
              </a:rPr>
              <a:t>Which atmospheric correction methods performed best for Sentinel-2A and for the airborne hyperspectral imagery, and what geolocation accuracies (RMSE) were achieved?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7E6080-CC64-300B-6F99-B0CA003CE3EB}"/>
              </a:ext>
            </a:extLst>
          </p:cNvPr>
          <p:cNvSpPr txBox="1"/>
          <p:nvPr/>
        </p:nvSpPr>
        <p:spPr>
          <a:xfrm>
            <a:off x="2151381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week6_lora_v02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206D0-8CEC-81F9-E422-826DDA748FE3}"/>
              </a:ext>
            </a:extLst>
          </p:cNvPr>
          <p:cNvSpPr txBox="1"/>
          <p:nvPr/>
        </p:nvSpPr>
        <p:spPr>
          <a:xfrm>
            <a:off x="8155839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week7_lora_v03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9D97F0-0BFA-AD28-AD3B-18FA723EA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828674"/>
            <a:ext cx="3078862" cy="23526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CC3867F-9AD9-E37E-3F7D-0D9C0961C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6" y="3181349"/>
            <a:ext cx="3078862" cy="21556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B6C7CE-106A-1D69-16D0-4F4497678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7608" y="2714625"/>
            <a:ext cx="3016839" cy="33257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9008A23-7E10-59E7-8FE1-0BC0105417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8798" y="1325235"/>
            <a:ext cx="3509530" cy="13893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B7E810-3940-659D-44A1-81156E1F51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8797" y="2636613"/>
            <a:ext cx="3509712" cy="345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03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ED4F3C-5DB6-1456-2538-0F5D8330A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96" y="2600214"/>
            <a:ext cx="6060944" cy="3562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85E8BA-B5F6-BAEB-3AB7-4BBA4932D863}"/>
              </a:ext>
            </a:extLst>
          </p:cNvPr>
          <p:cNvSpPr txBox="1"/>
          <p:nvPr/>
        </p:nvSpPr>
        <p:spPr>
          <a:xfrm>
            <a:off x="304800" y="28128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Inter"/>
              </a:rPr>
              <a:t>What is the advantage of the CNN-RF hybrid model for water quality monitoring, and how much did the R² values for TP, DO, and COD increase when environmental factors were included?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083E4A-E361-6919-D055-835150D64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42950"/>
            <a:ext cx="5645304" cy="5391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81DC9-D64A-E544-2446-A82704E4BAE2}"/>
              </a:ext>
            </a:extLst>
          </p:cNvPr>
          <p:cNvSpPr txBox="1"/>
          <p:nvPr/>
        </p:nvSpPr>
        <p:spPr>
          <a:xfrm>
            <a:off x="2151381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week6_lora_v02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CD140-1D1D-60D2-9A93-DEDAE44BBB2F}"/>
              </a:ext>
            </a:extLst>
          </p:cNvPr>
          <p:cNvSpPr txBox="1"/>
          <p:nvPr/>
        </p:nvSpPr>
        <p:spPr>
          <a:xfrm>
            <a:off x="8155839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week7_lora_v03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26BB46-790C-BF64-9F12-97AD605BF6B1}"/>
              </a:ext>
            </a:extLst>
          </p:cNvPr>
          <p:cNvSpPr txBox="1"/>
          <p:nvPr/>
        </p:nvSpPr>
        <p:spPr>
          <a:xfrm>
            <a:off x="10510837" y="105259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dirty="0">
                <a:solidFill>
                  <a:srgbClr val="4E95D9"/>
                </a:solidFill>
              </a:rPr>
              <a:t>Normal</a:t>
            </a:r>
            <a:endParaRPr lang="ko-KR" altLang="en-US" sz="2400" b="1" dirty="0">
              <a:solidFill>
                <a:srgbClr val="4E95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24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E4D3D-9C11-DC0B-2FB4-62C2358E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B0E41-C4E5-C31C-B45F-01A4D9255E3C}"/>
              </a:ext>
            </a:extLst>
          </p:cNvPr>
          <p:cNvSpPr txBox="1"/>
          <p:nvPr/>
        </p:nvSpPr>
        <p:spPr>
          <a:xfrm>
            <a:off x="9672637" y="133834"/>
            <a:ext cx="2800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2400" b="1" dirty="0">
                <a:solidFill>
                  <a:srgbClr val="4E95D9"/>
                </a:solidFill>
              </a:rPr>
              <a:t>With chaining</a:t>
            </a:r>
            <a:endParaRPr lang="ko-KR" altLang="en-US" sz="2400" b="1" dirty="0">
              <a:solidFill>
                <a:srgbClr val="4E95D9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5B5F6-88F0-1E51-573B-80CA30BA1EEF}"/>
              </a:ext>
            </a:extLst>
          </p:cNvPr>
          <p:cNvSpPr txBox="1"/>
          <p:nvPr/>
        </p:nvSpPr>
        <p:spPr>
          <a:xfrm>
            <a:off x="304800" y="28128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latin typeface="Inter"/>
              </a:rPr>
              <a:t>What is the advantage of the CNN-RF hybrid model for water quality monitoring, and how much did the R² values for TP, DO, and COD increase when environmental factors were included?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1D9607-6AE0-063D-DBC9-0118A069BABF}"/>
              </a:ext>
            </a:extLst>
          </p:cNvPr>
          <p:cNvSpPr txBox="1"/>
          <p:nvPr/>
        </p:nvSpPr>
        <p:spPr>
          <a:xfrm>
            <a:off x="2151381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week6_lora_v02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85EDF4-4999-8CF5-7CB4-E2B576456690}"/>
              </a:ext>
            </a:extLst>
          </p:cNvPr>
          <p:cNvSpPr txBox="1"/>
          <p:nvPr/>
        </p:nvSpPr>
        <p:spPr>
          <a:xfrm>
            <a:off x="8155839" y="6153039"/>
            <a:ext cx="1797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week7_lora_v03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AD21336-13BF-4DA9-E10E-5BE7EBA1F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38226"/>
            <a:ext cx="3176201" cy="26935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71EF93-C5EE-CBBB-1F55-70DA4AA82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731748"/>
            <a:ext cx="3176200" cy="209840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FF27E0F-56EC-8E37-EDF8-D0FB98F3E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256" y="3439487"/>
            <a:ext cx="3176200" cy="209840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402169C-8F74-8973-EA3D-14C31B08A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256" y="2292624"/>
            <a:ext cx="3183979" cy="115862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971D8A2-6D75-FC30-151A-EF78DF07B6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7026" y="2712238"/>
            <a:ext cx="3096802" cy="332970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C5062AA-14CA-ECE2-CB5D-22B4E10A6A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162" y="1226338"/>
            <a:ext cx="3500438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3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5094FC-684F-E32B-C509-0626B183E827}"/>
              </a:ext>
            </a:extLst>
          </p:cNvPr>
          <p:cNvSpPr txBox="1"/>
          <p:nvPr/>
        </p:nvSpPr>
        <p:spPr>
          <a:xfrm>
            <a:off x="152400" y="14870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800" b="1" dirty="0"/>
              <a:t>Practical Implementation</a:t>
            </a:r>
            <a:endParaRPr lang="ko-KR" altLang="en-US" sz="280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919DDB5-12FA-0B1A-FA63-E77F44645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967150"/>
              </p:ext>
            </p:extLst>
          </p:nvPr>
        </p:nvGraphicFramePr>
        <p:xfrm>
          <a:off x="1094798" y="762096"/>
          <a:ext cx="10160000" cy="55895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13308469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9572397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56890569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0700492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506786222"/>
                    </a:ext>
                  </a:extLst>
                </a:gridCol>
              </a:tblGrid>
              <a:tr h="834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Adapter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Prompt Type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Reasoning Quality</a:t>
                      </a:r>
                      <a:endParaRPr lang="ko-KR" altLang="en-US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effectLst/>
                        </a:rPr>
                        <a:t>Accuracy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Notes</a:t>
                      </a:r>
                      <a:endParaRPr lang="ko-KR" altLang="en-US" b="1" dirty="0">
                        <a:effectLst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74142"/>
                  </a:ext>
                </a:extLst>
              </a:tr>
              <a:tr h="4836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effectLst/>
                        </a:rPr>
                        <a:t>Moderate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effectLst/>
                        </a:rPr>
                        <a:t>Moderate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Short answers, hallucinations, weak reasoning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7151338"/>
                  </a:ext>
                </a:extLst>
              </a:tr>
              <a:tr h="8347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Week6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Chaining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/>
                        <a:t>High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High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Best performance; clear reasoning, high accuracy, stable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907154"/>
                  </a:ext>
                </a:extLst>
              </a:tr>
              <a:tr h="4836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Week7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effectLst/>
                        </a:rPr>
                        <a:t>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Low</a:t>
                      </a:r>
                      <a:endParaRPr lang="ko-KR" alt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lower accuracy &amp; domain grounding, but reasoning unstable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066195"/>
                  </a:ext>
                </a:extLst>
              </a:tr>
              <a:tr h="8347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Week7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Chaining</a:t>
                      </a:r>
                      <a:endParaRPr lang="ko-KR" alt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1" dirty="0">
                          <a:effectLst/>
                        </a:rPr>
                        <a:t>Moderate to 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effectLst/>
                        </a:rPr>
                        <a:t>Moderate to low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Structured but shallow reasoning; improved clarity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0302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962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4291</TotalTime>
  <Words>1429</Words>
  <Application>Microsoft Office PowerPoint</Application>
  <PresentationFormat>와이드스크린</PresentationFormat>
  <Paragraphs>232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Inter</vt:lpstr>
      <vt:lpstr>맑은 고딕</vt:lpstr>
      <vt:lpstr>Arial</vt:lpstr>
      <vt:lpstr>Open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이신우</dc:creator>
  <cp:lastModifiedBy>이신우</cp:lastModifiedBy>
  <cp:revision>44</cp:revision>
  <dcterms:created xsi:type="dcterms:W3CDTF">2025-11-23T06:23:27Z</dcterms:created>
  <dcterms:modified xsi:type="dcterms:W3CDTF">2025-11-26T06:40:14Z</dcterms:modified>
</cp:coreProperties>
</file>